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59"/>
  </p:notesMasterIdLst>
  <p:handoutMasterIdLst>
    <p:handoutMasterId r:id="rId60"/>
  </p:handoutMasterIdLst>
  <p:sldIdLst>
    <p:sldId id="327" r:id="rId5"/>
    <p:sldId id="330" r:id="rId6"/>
    <p:sldId id="331" r:id="rId7"/>
    <p:sldId id="333" r:id="rId8"/>
    <p:sldId id="332" r:id="rId9"/>
    <p:sldId id="298" r:id="rId10"/>
    <p:sldId id="262" r:id="rId11"/>
    <p:sldId id="263" r:id="rId12"/>
    <p:sldId id="335" r:id="rId13"/>
    <p:sldId id="336" r:id="rId14"/>
    <p:sldId id="341" r:id="rId15"/>
    <p:sldId id="343" r:id="rId16"/>
    <p:sldId id="338" r:id="rId17"/>
    <p:sldId id="340" r:id="rId18"/>
    <p:sldId id="266" r:id="rId19"/>
    <p:sldId id="344" r:id="rId20"/>
    <p:sldId id="265" r:id="rId21"/>
    <p:sldId id="345" r:id="rId22"/>
    <p:sldId id="276" r:id="rId23"/>
    <p:sldId id="303" r:id="rId24"/>
    <p:sldId id="293" r:id="rId25"/>
    <p:sldId id="334" r:id="rId26"/>
    <p:sldId id="277" r:id="rId27"/>
    <p:sldId id="284" r:id="rId28"/>
    <p:sldId id="269" r:id="rId29"/>
    <p:sldId id="304" r:id="rId30"/>
    <p:sldId id="305" r:id="rId31"/>
    <p:sldId id="307" r:id="rId32"/>
    <p:sldId id="306" r:id="rId33"/>
    <p:sldId id="308" r:id="rId34"/>
    <p:sldId id="270" r:id="rId35"/>
    <p:sldId id="309" r:id="rId36"/>
    <p:sldId id="310" r:id="rId37"/>
    <p:sldId id="311" r:id="rId38"/>
    <p:sldId id="312" r:id="rId39"/>
    <p:sldId id="314" r:id="rId40"/>
    <p:sldId id="313" r:id="rId41"/>
    <p:sldId id="315" r:id="rId42"/>
    <p:sldId id="316" r:id="rId43"/>
    <p:sldId id="317" r:id="rId44"/>
    <p:sldId id="294" r:id="rId45"/>
    <p:sldId id="296" r:id="rId46"/>
    <p:sldId id="318" r:id="rId47"/>
    <p:sldId id="319" r:id="rId48"/>
    <p:sldId id="321" r:id="rId49"/>
    <p:sldId id="322" r:id="rId50"/>
    <p:sldId id="323" r:id="rId51"/>
    <p:sldId id="324" r:id="rId52"/>
    <p:sldId id="288" r:id="rId53"/>
    <p:sldId id="289" r:id="rId54"/>
    <p:sldId id="320" r:id="rId55"/>
    <p:sldId id="274" r:id="rId56"/>
    <p:sldId id="275" r:id="rId57"/>
    <p:sldId id="329" r:id="rId58"/>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48CB"/>
    <a:srgbClr val="0B49CB"/>
    <a:srgbClr val="F2F4F8"/>
    <a:srgbClr val="1C7DDB"/>
    <a:srgbClr val="121619"/>
    <a:srgbClr val="F2F2F2"/>
    <a:srgbClr val="145579"/>
    <a:srgbClr val="3A6483"/>
    <a:srgbClr val="204E79"/>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64"/>
    <p:restoredTop sz="85229"/>
  </p:normalViewPr>
  <p:slideViewPr>
    <p:cSldViewPr snapToGrid="0" snapToObjects="1">
      <p:cViewPr varScale="1">
        <p:scale>
          <a:sx n="92" d="100"/>
          <a:sy n="92" d="100"/>
        </p:scale>
        <p:origin x="288" y="1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commentAuthors" Target="commen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617306-BFC1-AD47-8885-39037A656ACD}" type="doc">
      <dgm:prSet loTypeId="urn:microsoft.com/office/officeart/2005/8/layout/process1" loCatId="" qsTypeId="urn:microsoft.com/office/officeart/2005/8/quickstyle/simple1" qsCatId="simple" csTypeId="urn:microsoft.com/office/officeart/2005/8/colors/accent1_2" csCatId="accent1" phldr="1"/>
      <dgm:spPr/>
      <dgm:t>
        <a:bodyPr/>
        <a:lstStyle/>
        <a:p>
          <a:endParaRPr lang="fr-FR"/>
        </a:p>
      </dgm:t>
    </dgm:pt>
    <dgm:pt modelId="{F3B42436-96FF-D444-A4F1-04B59230866E}">
      <dgm:prSet phldrT="[Texte]" custT="1"/>
      <dgm:spPr/>
      <dgm:t>
        <a:bodyPr/>
        <a:lstStyle/>
        <a:p>
          <a:pPr rtl="0"/>
          <a:r>
            <a:rPr lang="en-US" sz="1600" dirty="0"/>
            <a:t>Identify SpaceX API Endpoint</a:t>
          </a:r>
        </a:p>
      </dgm:t>
    </dgm:pt>
    <dgm:pt modelId="{2C8FFF26-F6E2-E849-9ECD-C534E17A181F}" type="parTrans" cxnId="{C4DCDFBA-44D0-C147-9059-610233308944}">
      <dgm:prSet/>
      <dgm:spPr/>
      <dgm:t>
        <a:bodyPr/>
        <a:lstStyle/>
        <a:p>
          <a:endParaRPr lang="fr-FR"/>
        </a:p>
      </dgm:t>
    </dgm:pt>
    <dgm:pt modelId="{1368929D-FCCD-EB46-B9B9-CE355D638CC8}" type="sibTrans" cxnId="{C4DCDFBA-44D0-C147-9059-610233308944}">
      <dgm:prSet/>
      <dgm:spPr/>
      <dgm:t>
        <a:bodyPr/>
        <a:lstStyle/>
        <a:p>
          <a:endParaRPr lang="en-US" dirty="0"/>
        </a:p>
      </dgm:t>
    </dgm:pt>
    <dgm:pt modelId="{4A185EFF-F9C1-E74D-862D-3F96FE948B4F}">
      <dgm:prSet phldrT="[Texte]" custT="1"/>
      <dgm:spPr/>
      <dgm:t>
        <a:bodyPr/>
        <a:lstStyle/>
        <a:p>
          <a:pPr rtl="0"/>
          <a:r>
            <a:rPr lang="en-US" sz="1600" dirty="0"/>
            <a:t>Send GET Request to /v4/launches/past</a:t>
          </a:r>
        </a:p>
      </dgm:t>
    </dgm:pt>
    <dgm:pt modelId="{20293625-84F3-9B4D-A03C-50EED75EE5D0}" type="parTrans" cxnId="{570ED357-AB7E-2B44-A34C-2C414AF78260}">
      <dgm:prSet/>
      <dgm:spPr/>
      <dgm:t>
        <a:bodyPr/>
        <a:lstStyle/>
        <a:p>
          <a:endParaRPr lang="fr-FR"/>
        </a:p>
      </dgm:t>
    </dgm:pt>
    <dgm:pt modelId="{E736B5D0-F609-DB46-815C-FCF04066F296}" type="sibTrans" cxnId="{570ED357-AB7E-2B44-A34C-2C414AF78260}">
      <dgm:prSet/>
      <dgm:spPr/>
      <dgm:t>
        <a:bodyPr/>
        <a:lstStyle/>
        <a:p>
          <a:endParaRPr lang="en-US" dirty="0"/>
        </a:p>
      </dgm:t>
    </dgm:pt>
    <dgm:pt modelId="{486C5E1A-6CAE-8342-9C6D-9557E9A27673}">
      <dgm:prSet phldrT="[Texte]" custT="1"/>
      <dgm:spPr/>
      <dgm:t>
        <a:bodyPr/>
        <a:lstStyle/>
        <a:p>
          <a:pPr rtl="0"/>
          <a:r>
            <a:rPr lang="en-US" sz="1600" dirty="0"/>
            <a:t>Parse JSON Response to </a:t>
          </a:r>
          <a:r>
            <a:rPr lang="en-US" sz="1600" dirty="0" err="1"/>
            <a:t>DataFrame</a:t>
          </a:r>
          <a:endParaRPr lang="en-US" sz="1600" dirty="0"/>
        </a:p>
      </dgm:t>
    </dgm:pt>
    <dgm:pt modelId="{59BFC749-7BC1-B643-B7F9-A71B39B9B2F7}" type="parTrans" cxnId="{997AD05D-DDD7-6141-B36A-A259C1371E1B}">
      <dgm:prSet/>
      <dgm:spPr/>
      <dgm:t>
        <a:bodyPr/>
        <a:lstStyle/>
        <a:p>
          <a:endParaRPr lang="fr-FR"/>
        </a:p>
      </dgm:t>
    </dgm:pt>
    <dgm:pt modelId="{536804C7-46CE-A14E-9B4A-8C1BC41C2FDB}" type="sibTrans" cxnId="{997AD05D-DDD7-6141-B36A-A259C1371E1B}">
      <dgm:prSet/>
      <dgm:spPr/>
      <dgm:t>
        <a:bodyPr/>
        <a:lstStyle/>
        <a:p>
          <a:endParaRPr lang="en-US" dirty="0"/>
        </a:p>
      </dgm:t>
    </dgm:pt>
    <dgm:pt modelId="{2642416F-0B25-CE42-B6A6-69A447795094}">
      <dgm:prSet custT="1"/>
      <dgm:spPr/>
      <dgm:t>
        <a:bodyPr/>
        <a:lstStyle/>
        <a:p>
          <a:pPr rtl="0"/>
          <a:r>
            <a:rPr lang="en-US" sz="1600" dirty="0"/>
            <a:t>For each launch:</a:t>
          </a:r>
          <a:br>
            <a:rPr lang="en-US" sz="1600" dirty="0"/>
          </a:br>
          <a:r>
            <a:rPr lang="en-US" sz="1600" dirty="0"/>
            <a:t>GET rocket, payload, launchpad, core details by core ID</a:t>
          </a:r>
        </a:p>
      </dgm:t>
    </dgm:pt>
    <dgm:pt modelId="{3EB4573A-BBFF-EB4F-921E-90A023E3EB2C}" type="parTrans" cxnId="{214A5D58-6E4F-A54B-9650-5FE08A96B97F}">
      <dgm:prSet/>
      <dgm:spPr/>
      <dgm:t>
        <a:bodyPr/>
        <a:lstStyle/>
        <a:p>
          <a:endParaRPr lang="fr-FR"/>
        </a:p>
      </dgm:t>
    </dgm:pt>
    <dgm:pt modelId="{4E1CDB0F-29F1-C041-9341-7C2527B04091}" type="sibTrans" cxnId="{214A5D58-6E4F-A54B-9650-5FE08A96B97F}">
      <dgm:prSet/>
      <dgm:spPr/>
      <dgm:t>
        <a:bodyPr/>
        <a:lstStyle/>
        <a:p>
          <a:endParaRPr lang="en-US" dirty="0"/>
        </a:p>
      </dgm:t>
    </dgm:pt>
    <dgm:pt modelId="{5A639CCA-E6D0-5448-B39D-429B2308C383}">
      <dgm:prSet custT="1"/>
      <dgm:spPr/>
      <dgm:t>
        <a:bodyPr/>
        <a:lstStyle/>
        <a:p>
          <a:pPr rtl="0"/>
          <a:r>
            <a:rPr lang="en-US" sz="1600" dirty="0"/>
            <a:t>Aggregate all details into unified </a:t>
          </a:r>
          <a:r>
            <a:rPr lang="en-US" sz="1600" dirty="0" err="1"/>
            <a:t>DataFrame</a:t>
          </a:r>
          <a:endParaRPr lang="en-US" sz="1600" dirty="0"/>
        </a:p>
      </dgm:t>
    </dgm:pt>
    <dgm:pt modelId="{D6396A19-625A-E84F-8E98-3E435B474C5D}" type="parTrans" cxnId="{388D11E7-4325-0146-A3FD-B7D67E0EAF3F}">
      <dgm:prSet/>
      <dgm:spPr/>
      <dgm:t>
        <a:bodyPr/>
        <a:lstStyle/>
        <a:p>
          <a:endParaRPr lang="fr-FR"/>
        </a:p>
      </dgm:t>
    </dgm:pt>
    <dgm:pt modelId="{F91B1D5E-AD3B-114D-9C47-29B22FB9B453}" type="sibTrans" cxnId="{388D11E7-4325-0146-A3FD-B7D67E0EAF3F}">
      <dgm:prSet/>
      <dgm:spPr/>
      <dgm:t>
        <a:bodyPr/>
        <a:lstStyle/>
        <a:p>
          <a:endParaRPr lang="en-US" dirty="0"/>
        </a:p>
      </dgm:t>
    </dgm:pt>
    <dgm:pt modelId="{784D38E4-84EB-DD4C-8D9D-EB517B4EBECA}">
      <dgm:prSet custT="1"/>
      <dgm:spPr/>
      <dgm:t>
        <a:bodyPr/>
        <a:lstStyle/>
        <a:p>
          <a:pPr rtl="0"/>
          <a:r>
            <a:rPr lang="en-US" sz="1600" dirty="0"/>
            <a:t>Clean and filter data </a:t>
          </a:r>
        </a:p>
      </dgm:t>
    </dgm:pt>
    <dgm:pt modelId="{FFB54C5E-C399-4E42-B71B-8E1673B47092}" type="parTrans" cxnId="{6F7DF72A-B5AD-4E49-A24C-247900F53A0C}">
      <dgm:prSet/>
      <dgm:spPr/>
      <dgm:t>
        <a:bodyPr/>
        <a:lstStyle/>
        <a:p>
          <a:endParaRPr lang="fr-FR"/>
        </a:p>
      </dgm:t>
    </dgm:pt>
    <dgm:pt modelId="{2A5325C4-6E5A-234A-90FA-2DB21B3A9F9D}" type="sibTrans" cxnId="{6F7DF72A-B5AD-4E49-A24C-247900F53A0C}">
      <dgm:prSet/>
      <dgm:spPr/>
      <dgm:t>
        <a:bodyPr/>
        <a:lstStyle/>
        <a:p>
          <a:endParaRPr lang="en-US" dirty="0"/>
        </a:p>
      </dgm:t>
    </dgm:pt>
    <dgm:pt modelId="{4325D3D3-7EA2-144C-8D5B-B193E89F3B31}">
      <dgm:prSet custT="1"/>
      <dgm:spPr/>
      <dgm:t>
        <a:bodyPr/>
        <a:lstStyle/>
        <a:p>
          <a:pPr rtl="0"/>
          <a:r>
            <a:rPr lang="en-US" sz="1600" dirty="0"/>
            <a:t>Export to CSV</a:t>
          </a:r>
        </a:p>
      </dgm:t>
    </dgm:pt>
    <dgm:pt modelId="{96B20108-422A-0D49-B2DC-4B20AB3CD376}" type="parTrans" cxnId="{92692D14-68DA-3946-85D8-5FCABD15E585}">
      <dgm:prSet/>
      <dgm:spPr/>
      <dgm:t>
        <a:bodyPr/>
        <a:lstStyle/>
        <a:p>
          <a:endParaRPr lang="fr-FR"/>
        </a:p>
      </dgm:t>
    </dgm:pt>
    <dgm:pt modelId="{998842FB-BAC0-4D4D-9B6B-6A33F2D8F91C}" type="sibTrans" cxnId="{92692D14-68DA-3946-85D8-5FCABD15E585}">
      <dgm:prSet/>
      <dgm:spPr/>
      <dgm:t>
        <a:bodyPr/>
        <a:lstStyle/>
        <a:p>
          <a:endParaRPr lang="fr-FR"/>
        </a:p>
      </dgm:t>
    </dgm:pt>
    <dgm:pt modelId="{3782F748-2155-9E46-856E-23016441F07A}" type="pres">
      <dgm:prSet presAssocID="{7A617306-BFC1-AD47-8885-39037A656ACD}" presName="Name0" presStyleCnt="0">
        <dgm:presLayoutVars>
          <dgm:dir/>
          <dgm:resizeHandles val="exact"/>
        </dgm:presLayoutVars>
      </dgm:prSet>
      <dgm:spPr/>
    </dgm:pt>
    <dgm:pt modelId="{0A442402-BA80-BF4E-818D-DE4F2F8AEB1C}" type="pres">
      <dgm:prSet presAssocID="{F3B42436-96FF-D444-A4F1-04B59230866E}" presName="node" presStyleLbl="node1" presStyleIdx="0" presStyleCnt="7" custScaleX="121000" custScaleY="121855">
        <dgm:presLayoutVars>
          <dgm:bulletEnabled val="1"/>
        </dgm:presLayoutVars>
      </dgm:prSet>
      <dgm:spPr/>
    </dgm:pt>
    <dgm:pt modelId="{3BC1077B-33A3-4945-8215-2E64DB331FCD}" type="pres">
      <dgm:prSet presAssocID="{1368929D-FCCD-EB46-B9B9-CE355D638CC8}" presName="sibTrans" presStyleLbl="sibTrans2D1" presStyleIdx="0" presStyleCnt="6"/>
      <dgm:spPr/>
    </dgm:pt>
    <dgm:pt modelId="{2B46DDDB-6927-0A4F-B2A9-39257A6E0320}" type="pres">
      <dgm:prSet presAssocID="{1368929D-FCCD-EB46-B9B9-CE355D638CC8}" presName="connectorText" presStyleLbl="sibTrans2D1" presStyleIdx="0" presStyleCnt="6"/>
      <dgm:spPr/>
    </dgm:pt>
    <dgm:pt modelId="{E49B67F6-E98E-4C4C-9D6E-CCB98C7CC76D}" type="pres">
      <dgm:prSet presAssocID="{4A185EFF-F9C1-E74D-862D-3F96FE948B4F}" presName="node" presStyleLbl="node1" presStyleIdx="1" presStyleCnt="7" custScaleX="121000" custScaleY="121855">
        <dgm:presLayoutVars>
          <dgm:bulletEnabled val="1"/>
        </dgm:presLayoutVars>
      </dgm:prSet>
      <dgm:spPr/>
    </dgm:pt>
    <dgm:pt modelId="{0B821D9B-8383-CF4F-8A2D-1BD6006DBCEC}" type="pres">
      <dgm:prSet presAssocID="{E736B5D0-F609-DB46-815C-FCF04066F296}" presName="sibTrans" presStyleLbl="sibTrans2D1" presStyleIdx="1" presStyleCnt="6"/>
      <dgm:spPr/>
    </dgm:pt>
    <dgm:pt modelId="{3A7E7498-2BE4-F245-9BC1-5C00DF68D467}" type="pres">
      <dgm:prSet presAssocID="{E736B5D0-F609-DB46-815C-FCF04066F296}" presName="connectorText" presStyleLbl="sibTrans2D1" presStyleIdx="1" presStyleCnt="6"/>
      <dgm:spPr/>
    </dgm:pt>
    <dgm:pt modelId="{976663D9-2FAA-AE47-A41B-B2B7C113A7FA}" type="pres">
      <dgm:prSet presAssocID="{486C5E1A-6CAE-8342-9C6D-9557E9A27673}" presName="node" presStyleLbl="node1" presStyleIdx="2" presStyleCnt="7" custScaleX="121000" custScaleY="121855">
        <dgm:presLayoutVars>
          <dgm:bulletEnabled val="1"/>
        </dgm:presLayoutVars>
      </dgm:prSet>
      <dgm:spPr/>
    </dgm:pt>
    <dgm:pt modelId="{5241A633-6CAF-324A-BF71-57F48308C790}" type="pres">
      <dgm:prSet presAssocID="{536804C7-46CE-A14E-9B4A-8C1BC41C2FDB}" presName="sibTrans" presStyleLbl="sibTrans2D1" presStyleIdx="2" presStyleCnt="6"/>
      <dgm:spPr/>
    </dgm:pt>
    <dgm:pt modelId="{501DCC2B-5B44-5A42-B252-0638EAC84D9E}" type="pres">
      <dgm:prSet presAssocID="{536804C7-46CE-A14E-9B4A-8C1BC41C2FDB}" presName="connectorText" presStyleLbl="sibTrans2D1" presStyleIdx="2" presStyleCnt="6"/>
      <dgm:spPr/>
    </dgm:pt>
    <dgm:pt modelId="{FC3E8542-AD84-234E-BBD0-C260CC7088D8}" type="pres">
      <dgm:prSet presAssocID="{2642416F-0B25-CE42-B6A6-69A447795094}" presName="node" presStyleLbl="node1" presStyleIdx="3" presStyleCnt="7" custScaleX="121000" custScaleY="121855">
        <dgm:presLayoutVars>
          <dgm:bulletEnabled val="1"/>
        </dgm:presLayoutVars>
      </dgm:prSet>
      <dgm:spPr/>
    </dgm:pt>
    <dgm:pt modelId="{F2EFE180-9539-6248-A862-4AA76F90A15B}" type="pres">
      <dgm:prSet presAssocID="{4E1CDB0F-29F1-C041-9341-7C2527B04091}" presName="sibTrans" presStyleLbl="sibTrans2D1" presStyleIdx="3" presStyleCnt="6"/>
      <dgm:spPr/>
    </dgm:pt>
    <dgm:pt modelId="{E951F228-C4C0-6246-AA47-94EC0C4A025F}" type="pres">
      <dgm:prSet presAssocID="{4E1CDB0F-29F1-C041-9341-7C2527B04091}" presName="connectorText" presStyleLbl="sibTrans2D1" presStyleIdx="3" presStyleCnt="6"/>
      <dgm:spPr/>
    </dgm:pt>
    <dgm:pt modelId="{D64DDB53-CCEB-1647-BA56-81E117780445}" type="pres">
      <dgm:prSet presAssocID="{5A639CCA-E6D0-5448-B39D-429B2308C383}" presName="node" presStyleLbl="node1" presStyleIdx="4" presStyleCnt="7" custScaleX="121000" custScaleY="121855">
        <dgm:presLayoutVars>
          <dgm:bulletEnabled val="1"/>
        </dgm:presLayoutVars>
      </dgm:prSet>
      <dgm:spPr/>
    </dgm:pt>
    <dgm:pt modelId="{15810BDD-7474-6842-9F69-8EFD664CEF4E}" type="pres">
      <dgm:prSet presAssocID="{F91B1D5E-AD3B-114D-9C47-29B22FB9B453}" presName="sibTrans" presStyleLbl="sibTrans2D1" presStyleIdx="4" presStyleCnt="6"/>
      <dgm:spPr/>
    </dgm:pt>
    <dgm:pt modelId="{C90F2457-9E77-5240-B486-8D7E20033962}" type="pres">
      <dgm:prSet presAssocID="{F91B1D5E-AD3B-114D-9C47-29B22FB9B453}" presName="connectorText" presStyleLbl="sibTrans2D1" presStyleIdx="4" presStyleCnt="6"/>
      <dgm:spPr/>
    </dgm:pt>
    <dgm:pt modelId="{9FCE3AAC-2AF1-634A-A1E9-DC19F68AD4BE}" type="pres">
      <dgm:prSet presAssocID="{784D38E4-84EB-DD4C-8D9D-EB517B4EBECA}" presName="node" presStyleLbl="node1" presStyleIdx="5" presStyleCnt="7" custScaleX="121000" custScaleY="121855">
        <dgm:presLayoutVars>
          <dgm:bulletEnabled val="1"/>
        </dgm:presLayoutVars>
      </dgm:prSet>
      <dgm:spPr/>
    </dgm:pt>
    <dgm:pt modelId="{62DAA9DF-316C-B84C-90AD-45FC5AA8647C}" type="pres">
      <dgm:prSet presAssocID="{2A5325C4-6E5A-234A-90FA-2DB21B3A9F9D}" presName="sibTrans" presStyleLbl="sibTrans2D1" presStyleIdx="5" presStyleCnt="6"/>
      <dgm:spPr/>
    </dgm:pt>
    <dgm:pt modelId="{E4296DF3-A635-6D44-B3D6-9AF3F59B1576}" type="pres">
      <dgm:prSet presAssocID="{2A5325C4-6E5A-234A-90FA-2DB21B3A9F9D}" presName="connectorText" presStyleLbl="sibTrans2D1" presStyleIdx="5" presStyleCnt="6"/>
      <dgm:spPr/>
    </dgm:pt>
    <dgm:pt modelId="{A5BB6B98-EF0E-1544-87FE-FD735F2F37AE}" type="pres">
      <dgm:prSet presAssocID="{4325D3D3-7EA2-144C-8D5B-B193E89F3B31}" presName="node" presStyleLbl="node1" presStyleIdx="6" presStyleCnt="7" custScaleX="121000" custScaleY="121855">
        <dgm:presLayoutVars>
          <dgm:bulletEnabled val="1"/>
        </dgm:presLayoutVars>
      </dgm:prSet>
      <dgm:spPr/>
    </dgm:pt>
  </dgm:ptLst>
  <dgm:cxnLst>
    <dgm:cxn modelId="{92692D14-68DA-3946-85D8-5FCABD15E585}" srcId="{7A617306-BFC1-AD47-8885-39037A656ACD}" destId="{4325D3D3-7EA2-144C-8D5B-B193E89F3B31}" srcOrd="6" destOrd="0" parTransId="{96B20108-422A-0D49-B2DC-4B20AB3CD376}" sibTransId="{998842FB-BAC0-4D4D-9B6B-6A33F2D8F91C}"/>
    <dgm:cxn modelId="{F96E7019-D807-9F4E-B72E-D9DD9C972445}" type="presOf" srcId="{5A639CCA-E6D0-5448-B39D-429B2308C383}" destId="{D64DDB53-CCEB-1647-BA56-81E117780445}" srcOrd="0" destOrd="0" presId="urn:microsoft.com/office/officeart/2005/8/layout/process1"/>
    <dgm:cxn modelId="{55FD2D26-E155-A74E-9D3C-197351C4B59C}" type="presOf" srcId="{536804C7-46CE-A14E-9B4A-8C1BC41C2FDB}" destId="{501DCC2B-5B44-5A42-B252-0638EAC84D9E}" srcOrd="1" destOrd="0" presId="urn:microsoft.com/office/officeart/2005/8/layout/process1"/>
    <dgm:cxn modelId="{06012727-1312-3543-B0FA-56F95B47F6B3}" type="presOf" srcId="{1368929D-FCCD-EB46-B9B9-CE355D638CC8}" destId="{3BC1077B-33A3-4945-8215-2E64DB331FCD}" srcOrd="0" destOrd="0" presId="urn:microsoft.com/office/officeart/2005/8/layout/process1"/>
    <dgm:cxn modelId="{308BC52A-9CC3-7940-89EA-DCFAF388EB57}" type="presOf" srcId="{F3B42436-96FF-D444-A4F1-04B59230866E}" destId="{0A442402-BA80-BF4E-818D-DE4F2F8AEB1C}" srcOrd="0" destOrd="0" presId="urn:microsoft.com/office/officeart/2005/8/layout/process1"/>
    <dgm:cxn modelId="{9373F72A-2783-534E-8067-BAD8E5EEE6E2}" type="presOf" srcId="{4A185EFF-F9C1-E74D-862D-3F96FE948B4F}" destId="{E49B67F6-E98E-4C4C-9D6E-CCB98C7CC76D}" srcOrd="0" destOrd="0" presId="urn:microsoft.com/office/officeart/2005/8/layout/process1"/>
    <dgm:cxn modelId="{6F7DF72A-B5AD-4E49-A24C-247900F53A0C}" srcId="{7A617306-BFC1-AD47-8885-39037A656ACD}" destId="{784D38E4-84EB-DD4C-8D9D-EB517B4EBECA}" srcOrd="5" destOrd="0" parTransId="{FFB54C5E-C399-4E42-B71B-8E1673B47092}" sibTransId="{2A5325C4-6E5A-234A-90FA-2DB21B3A9F9D}"/>
    <dgm:cxn modelId="{12033932-2F06-2A42-8A57-5D2566775244}" type="presOf" srcId="{486C5E1A-6CAE-8342-9C6D-9557E9A27673}" destId="{976663D9-2FAA-AE47-A41B-B2B7C113A7FA}" srcOrd="0" destOrd="0" presId="urn:microsoft.com/office/officeart/2005/8/layout/process1"/>
    <dgm:cxn modelId="{81D59632-736A-6048-B400-2263F94AB3CF}" type="presOf" srcId="{2A5325C4-6E5A-234A-90FA-2DB21B3A9F9D}" destId="{62DAA9DF-316C-B84C-90AD-45FC5AA8647C}" srcOrd="0" destOrd="0" presId="urn:microsoft.com/office/officeart/2005/8/layout/process1"/>
    <dgm:cxn modelId="{9A01C23A-3745-0C49-A553-D2DF010AC489}" type="presOf" srcId="{536804C7-46CE-A14E-9B4A-8C1BC41C2FDB}" destId="{5241A633-6CAF-324A-BF71-57F48308C790}" srcOrd="0" destOrd="0" presId="urn:microsoft.com/office/officeart/2005/8/layout/process1"/>
    <dgm:cxn modelId="{4FCACC3D-24AE-B44F-A2E2-6734618E29AB}" type="presOf" srcId="{4E1CDB0F-29F1-C041-9341-7C2527B04091}" destId="{F2EFE180-9539-6248-A862-4AA76F90A15B}" srcOrd="0" destOrd="0" presId="urn:microsoft.com/office/officeart/2005/8/layout/process1"/>
    <dgm:cxn modelId="{5B61FC42-0EB9-1E4A-8BCC-911808BC0EFD}" type="presOf" srcId="{E736B5D0-F609-DB46-815C-FCF04066F296}" destId="{0B821D9B-8383-CF4F-8A2D-1BD6006DBCEC}" srcOrd="0" destOrd="0" presId="urn:microsoft.com/office/officeart/2005/8/layout/process1"/>
    <dgm:cxn modelId="{570ED357-AB7E-2B44-A34C-2C414AF78260}" srcId="{7A617306-BFC1-AD47-8885-39037A656ACD}" destId="{4A185EFF-F9C1-E74D-862D-3F96FE948B4F}" srcOrd="1" destOrd="0" parTransId="{20293625-84F3-9B4D-A03C-50EED75EE5D0}" sibTransId="{E736B5D0-F609-DB46-815C-FCF04066F296}"/>
    <dgm:cxn modelId="{214A5D58-6E4F-A54B-9650-5FE08A96B97F}" srcId="{7A617306-BFC1-AD47-8885-39037A656ACD}" destId="{2642416F-0B25-CE42-B6A6-69A447795094}" srcOrd="3" destOrd="0" parTransId="{3EB4573A-BBFF-EB4F-921E-90A023E3EB2C}" sibTransId="{4E1CDB0F-29F1-C041-9341-7C2527B04091}"/>
    <dgm:cxn modelId="{997AD05D-DDD7-6141-B36A-A259C1371E1B}" srcId="{7A617306-BFC1-AD47-8885-39037A656ACD}" destId="{486C5E1A-6CAE-8342-9C6D-9557E9A27673}" srcOrd="2" destOrd="0" parTransId="{59BFC749-7BC1-B643-B7F9-A71B39B9B2F7}" sibTransId="{536804C7-46CE-A14E-9B4A-8C1BC41C2FDB}"/>
    <dgm:cxn modelId="{CD3D2461-C902-F949-9144-AE806AC0A21A}" type="presOf" srcId="{7A617306-BFC1-AD47-8885-39037A656ACD}" destId="{3782F748-2155-9E46-856E-23016441F07A}" srcOrd="0" destOrd="0" presId="urn:microsoft.com/office/officeart/2005/8/layout/process1"/>
    <dgm:cxn modelId="{4DBD2884-D3AE-F24F-AD96-0E45530701DF}" type="presOf" srcId="{2A5325C4-6E5A-234A-90FA-2DB21B3A9F9D}" destId="{E4296DF3-A635-6D44-B3D6-9AF3F59B1576}" srcOrd="1" destOrd="0" presId="urn:microsoft.com/office/officeart/2005/8/layout/process1"/>
    <dgm:cxn modelId="{AA30D388-5FC8-DA41-B19D-C0CBDB6A50E8}" type="presOf" srcId="{4E1CDB0F-29F1-C041-9341-7C2527B04091}" destId="{E951F228-C4C0-6246-AA47-94EC0C4A025F}" srcOrd="1" destOrd="0" presId="urn:microsoft.com/office/officeart/2005/8/layout/process1"/>
    <dgm:cxn modelId="{54760D8F-7B4C-424B-8965-79E583C26827}" type="presOf" srcId="{4325D3D3-7EA2-144C-8D5B-B193E89F3B31}" destId="{A5BB6B98-EF0E-1544-87FE-FD735F2F37AE}" srcOrd="0" destOrd="0" presId="urn:microsoft.com/office/officeart/2005/8/layout/process1"/>
    <dgm:cxn modelId="{C4D7099A-79AB-AE49-9FA2-CDF456CFBC60}" type="presOf" srcId="{784D38E4-84EB-DD4C-8D9D-EB517B4EBECA}" destId="{9FCE3AAC-2AF1-634A-A1E9-DC19F68AD4BE}" srcOrd="0" destOrd="0" presId="urn:microsoft.com/office/officeart/2005/8/layout/process1"/>
    <dgm:cxn modelId="{1BCBFAA7-827D-854C-9FB4-F02D21AE9306}" type="presOf" srcId="{1368929D-FCCD-EB46-B9B9-CE355D638CC8}" destId="{2B46DDDB-6927-0A4F-B2A9-39257A6E0320}" srcOrd="1" destOrd="0" presId="urn:microsoft.com/office/officeart/2005/8/layout/process1"/>
    <dgm:cxn modelId="{C8FD39B8-E735-0243-99F0-30A46D5D8A52}" type="presOf" srcId="{F91B1D5E-AD3B-114D-9C47-29B22FB9B453}" destId="{15810BDD-7474-6842-9F69-8EFD664CEF4E}" srcOrd="0" destOrd="0" presId="urn:microsoft.com/office/officeart/2005/8/layout/process1"/>
    <dgm:cxn modelId="{C4DCDFBA-44D0-C147-9059-610233308944}" srcId="{7A617306-BFC1-AD47-8885-39037A656ACD}" destId="{F3B42436-96FF-D444-A4F1-04B59230866E}" srcOrd="0" destOrd="0" parTransId="{2C8FFF26-F6E2-E849-9ECD-C534E17A181F}" sibTransId="{1368929D-FCCD-EB46-B9B9-CE355D638CC8}"/>
    <dgm:cxn modelId="{0DB5B9CC-FAAD-DA49-9541-274980086D9F}" type="presOf" srcId="{F91B1D5E-AD3B-114D-9C47-29B22FB9B453}" destId="{C90F2457-9E77-5240-B486-8D7E20033962}" srcOrd="1" destOrd="0" presId="urn:microsoft.com/office/officeart/2005/8/layout/process1"/>
    <dgm:cxn modelId="{A75483CD-7018-8E43-8EE6-923E75AB0E98}" type="presOf" srcId="{2642416F-0B25-CE42-B6A6-69A447795094}" destId="{FC3E8542-AD84-234E-BBD0-C260CC7088D8}" srcOrd="0" destOrd="0" presId="urn:microsoft.com/office/officeart/2005/8/layout/process1"/>
    <dgm:cxn modelId="{B3201CD0-8E88-7D4D-8DC3-BB2952D55B76}" type="presOf" srcId="{E736B5D0-F609-DB46-815C-FCF04066F296}" destId="{3A7E7498-2BE4-F245-9BC1-5C00DF68D467}" srcOrd="1" destOrd="0" presId="urn:microsoft.com/office/officeart/2005/8/layout/process1"/>
    <dgm:cxn modelId="{388D11E7-4325-0146-A3FD-B7D67E0EAF3F}" srcId="{7A617306-BFC1-AD47-8885-39037A656ACD}" destId="{5A639CCA-E6D0-5448-B39D-429B2308C383}" srcOrd="4" destOrd="0" parTransId="{D6396A19-625A-E84F-8E98-3E435B474C5D}" sibTransId="{F91B1D5E-AD3B-114D-9C47-29B22FB9B453}"/>
    <dgm:cxn modelId="{C0082B5C-7C63-7B48-AB6D-67DB5CBC0810}" type="presParOf" srcId="{3782F748-2155-9E46-856E-23016441F07A}" destId="{0A442402-BA80-BF4E-818D-DE4F2F8AEB1C}" srcOrd="0" destOrd="0" presId="urn:microsoft.com/office/officeart/2005/8/layout/process1"/>
    <dgm:cxn modelId="{79972092-B38D-D64A-9F00-D067F304A86E}" type="presParOf" srcId="{3782F748-2155-9E46-856E-23016441F07A}" destId="{3BC1077B-33A3-4945-8215-2E64DB331FCD}" srcOrd="1" destOrd="0" presId="urn:microsoft.com/office/officeart/2005/8/layout/process1"/>
    <dgm:cxn modelId="{1EDD68F0-9DAA-FC40-B7C9-8AF84157DC23}" type="presParOf" srcId="{3BC1077B-33A3-4945-8215-2E64DB331FCD}" destId="{2B46DDDB-6927-0A4F-B2A9-39257A6E0320}" srcOrd="0" destOrd="0" presId="urn:microsoft.com/office/officeart/2005/8/layout/process1"/>
    <dgm:cxn modelId="{97E15098-BF36-C347-B34A-414B717580C9}" type="presParOf" srcId="{3782F748-2155-9E46-856E-23016441F07A}" destId="{E49B67F6-E98E-4C4C-9D6E-CCB98C7CC76D}" srcOrd="2" destOrd="0" presId="urn:microsoft.com/office/officeart/2005/8/layout/process1"/>
    <dgm:cxn modelId="{F5384264-E752-564F-A43A-060AA9729DA1}" type="presParOf" srcId="{3782F748-2155-9E46-856E-23016441F07A}" destId="{0B821D9B-8383-CF4F-8A2D-1BD6006DBCEC}" srcOrd="3" destOrd="0" presId="urn:microsoft.com/office/officeart/2005/8/layout/process1"/>
    <dgm:cxn modelId="{BDC85EFF-3627-404A-9A21-032B314ABBA2}" type="presParOf" srcId="{0B821D9B-8383-CF4F-8A2D-1BD6006DBCEC}" destId="{3A7E7498-2BE4-F245-9BC1-5C00DF68D467}" srcOrd="0" destOrd="0" presId="urn:microsoft.com/office/officeart/2005/8/layout/process1"/>
    <dgm:cxn modelId="{69937990-FCA3-694F-88FD-6F6F078CA53C}" type="presParOf" srcId="{3782F748-2155-9E46-856E-23016441F07A}" destId="{976663D9-2FAA-AE47-A41B-B2B7C113A7FA}" srcOrd="4" destOrd="0" presId="urn:microsoft.com/office/officeart/2005/8/layout/process1"/>
    <dgm:cxn modelId="{B2F81218-3379-0D4D-A2F4-88DAB87A36D5}" type="presParOf" srcId="{3782F748-2155-9E46-856E-23016441F07A}" destId="{5241A633-6CAF-324A-BF71-57F48308C790}" srcOrd="5" destOrd="0" presId="urn:microsoft.com/office/officeart/2005/8/layout/process1"/>
    <dgm:cxn modelId="{FADFEC87-1942-F640-BEBA-078A6AF9DB47}" type="presParOf" srcId="{5241A633-6CAF-324A-BF71-57F48308C790}" destId="{501DCC2B-5B44-5A42-B252-0638EAC84D9E}" srcOrd="0" destOrd="0" presId="urn:microsoft.com/office/officeart/2005/8/layout/process1"/>
    <dgm:cxn modelId="{E8691E99-37D8-CE47-BF9F-F2FA967E2E35}" type="presParOf" srcId="{3782F748-2155-9E46-856E-23016441F07A}" destId="{FC3E8542-AD84-234E-BBD0-C260CC7088D8}" srcOrd="6" destOrd="0" presId="urn:microsoft.com/office/officeart/2005/8/layout/process1"/>
    <dgm:cxn modelId="{FE283DBF-AA77-D44D-9159-D00E1616F015}" type="presParOf" srcId="{3782F748-2155-9E46-856E-23016441F07A}" destId="{F2EFE180-9539-6248-A862-4AA76F90A15B}" srcOrd="7" destOrd="0" presId="urn:microsoft.com/office/officeart/2005/8/layout/process1"/>
    <dgm:cxn modelId="{4100EB00-BE14-9243-85A9-5C940D36403A}" type="presParOf" srcId="{F2EFE180-9539-6248-A862-4AA76F90A15B}" destId="{E951F228-C4C0-6246-AA47-94EC0C4A025F}" srcOrd="0" destOrd="0" presId="urn:microsoft.com/office/officeart/2005/8/layout/process1"/>
    <dgm:cxn modelId="{27A4AE1F-42AA-9B4A-AE3B-F35FF93E3AE3}" type="presParOf" srcId="{3782F748-2155-9E46-856E-23016441F07A}" destId="{D64DDB53-CCEB-1647-BA56-81E117780445}" srcOrd="8" destOrd="0" presId="urn:microsoft.com/office/officeart/2005/8/layout/process1"/>
    <dgm:cxn modelId="{AE9FF360-E859-3C4D-AE7B-64592834A961}" type="presParOf" srcId="{3782F748-2155-9E46-856E-23016441F07A}" destId="{15810BDD-7474-6842-9F69-8EFD664CEF4E}" srcOrd="9" destOrd="0" presId="urn:microsoft.com/office/officeart/2005/8/layout/process1"/>
    <dgm:cxn modelId="{B389D18A-F98F-2B43-9E2D-4C0460900A55}" type="presParOf" srcId="{15810BDD-7474-6842-9F69-8EFD664CEF4E}" destId="{C90F2457-9E77-5240-B486-8D7E20033962}" srcOrd="0" destOrd="0" presId="urn:microsoft.com/office/officeart/2005/8/layout/process1"/>
    <dgm:cxn modelId="{DB6FA9F9-C37E-B140-A7A7-08C2B6686620}" type="presParOf" srcId="{3782F748-2155-9E46-856E-23016441F07A}" destId="{9FCE3AAC-2AF1-634A-A1E9-DC19F68AD4BE}" srcOrd="10" destOrd="0" presId="urn:microsoft.com/office/officeart/2005/8/layout/process1"/>
    <dgm:cxn modelId="{6DF399E1-5C00-B940-B1F0-12B5CCDC4287}" type="presParOf" srcId="{3782F748-2155-9E46-856E-23016441F07A}" destId="{62DAA9DF-316C-B84C-90AD-45FC5AA8647C}" srcOrd="11" destOrd="0" presId="urn:microsoft.com/office/officeart/2005/8/layout/process1"/>
    <dgm:cxn modelId="{0CD72CC9-7D45-FF40-9692-6BD550DAE36F}" type="presParOf" srcId="{62DAA9DF-316C-B84C-90AD-45FC5AA8647C}" destId="{E4296DF3-A635-6D44-B3D6-9AF3F59B1576}" srcOrd="0" destOrd="0" presId="urn:microsoft.com/office/officeart/2005/8/layout/process1"/>
    <dgm:cxn modelId="{122ADAF9-F80E-AF4A-AE21-623103774691}" type="presParOf" srcId="{3782F748-2155-9E46-856E-23016441F07A}" destId="{A5BB6B98-EF0E-1544-87FE-FD735F2F37AE}" srcOrd="1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617306-BFC1-AD47-8885-39037A656ACD}" type="doc">
      <dgm:prSet loTypeId="urn:microsoft.com/office/officeart/2005/8/layout/process1" loCatId="" qsTypeId="urn:microsoft.com/office/officeart/2005/8/quickstyle/simple1" qsCatId="simple" csTypeId="urn:microsoft.com/office/officeart/2005/8/colors/accent1_2" csCatId="accent1" phldr="1"/>
      <dgm:spPr/>
      <dgm:t>
        <a:bodyPr/>
        <a:lstStyle/>
        <a:p>
          <a:endParaRPr lang="fr-FR"/>
        </a:p>
      </dgm:t>
    </dgm:pt>
    <dgm:pt modelId="{F3B42436-96FF-D444-A4F1-04B59230866E}">
      <dgm:prSet phldrT="[Texte]" custT="1"/>
      <dgm:spPr/>
      <dgm:t>
        <a:bodyPr/>
        <a:lstStyle/>
        <a:p>
          <a:pPr rtl="0"/>
          <a:r>
            <a:rPr lang="fr-FR" sz="1600" dirty="0" err="1"/>
            <a:t>Identify</a:t>
          </a:r>
          <a:r>
            <a:rPr lang="fr-FR" sz="1600" dirty="0"/>
            <a:t> </a:t>
          </a:r>
          <a:r>
            <a:rPr lang="fr-FR" sz="1600" dirty="0" err="1"/>
            <a:t>Wikipedia</a:t>
          </a:r>
          <a:r>
            <a:rPr lang="fr-FR" sz="1600" dirty="0"/>
            <a:t> URL</a:t>
          </a:r>
          <a:endParaRPr lang="en-US" sz="1600" dirty="0"/>
        </a:p>
      </dgm:t>
    </dgm:pt>
    <dgm:pt modelId="{2C8FFF26-F6E2-E849-9ECD-C534E17A181F}" type="parTrans" cxnId="{C4DCDFBA-44D0-C147-9059-610233308944}">
      <dgm:prSet/>
      <dgm:spPr/>
      <dgm:t>
        <a:bodyPr/>
        <a:lstStyle/>
        <a:p>
          <a:endParaRPr lang="fr-FR"/>
        </a:p>
      </dgm:t>
    </dgm:pt>
    <dgm:pt modelId="{1368929D-FCCD-EB46-B9B9-CE355D638CC8}" type="sibTrans" cxnId="{C4DCDFBA-44D0-C147-9059-610233308944}">
      <dgm:prSet/>
      <dgm:spPr/>
      <dgm:t>
        <a:bodyPr/>
        <a:lstStyle/>
        <a:p>
          <a:endParaRPr lang="en-US" dirty="0"/>
        </a:p>
      </dgm:t>
    </dgm:pt>
    <dgm:pt modelId="{4A185EFF-F9C1-E74D-862D-3F96FE948B4F}">
      <dgm:prSet phldrT="[Texte]" custT="1"/>
      <dgm:spPr/>
      <dgm:t>
        <a:bodyPr/>
        <a:lstStyle/>
        <a:p>
          <a:pPr rtl="0"/>
          <a:r>
            <a:rPr lang="fr-FR" sz="1600" dirty="0" err="1"/>
            <a:t>Send</a:t>
          </a:r>
          <a:r>
            <a:rPr lang="fr-FR" sz="1600" dirty="0"/>
            <a:t> HTTP GET </a:t>
          </a:r>
          <a:r>
            <a:rPr lang="fr-FR" sz="1600" dirty="0" err="1"/>
            <a:t>Request</a:t>
          </a:r>
          <a:r>
            <a:rPr lang="fr-FR" sz="1600" dirty="0"/>
            <a:t> with User-Agent</a:t>
          </a:r>
          <a:endParaRPr lang="en-US" sz="1600" dirty="0"/>
        </a:p>
      </dgm:t>
    </dgm:pt>
    <dgm:pt modelId="{20293625-84F3-9B4D-A03C-50EED75EE5D0}" type="parTrans" cxnId="{570ED357-AB7E-2B44-A34C-2C414AF78260}">
      <dgm:prSet/>
      <dgm:spPr/>
      <dgm:t>
        <a:bodyPr/>
        <a:lstStyle/>
        <a:p>
          <a:endParaRPr lang="fr-FR"/>
        </a:p>
      </dgm:t>
    </dgm:pt>
    <dgm:pt modelId="{E736B5D0-F609-DB46-815C-FCF04066F296}" type="sibTrans" cxnId="{570ED357-AB7E-2B44-A34C-2C414AF78260}">
      <dgm:prSet/>
      <dgm:spPr/>
      <dgm:t>
        <a:bodyPr/>
        <a:lstStyle/>
        <a:p>
          <a:endParaRPr lang="en-US" dirty="0"/>
        </a:p>
      </dgm:t>
    </dgm:pt>
    <dgm:pt modelId="{486C5E1A-6CAE-8342-9C6D-9557E9A27673}">
      <dgm:prSet phldrT="[Texte]" custT="1"/>
      <dgm:spPr/>
      <dgm:t>
        <a:bodyPr/>
        <a:lstStyle/>
        <a:p>
          <a:pPr rtl="0"/>
          <a:r>
            <a:rPr lang="fr-FR" sz="1600" dirty="0"/>
            <a:t>Parse HTML with </a:t>
          </a:r>
          <a:r>
            <a:rPr lang="fr-FR" sz="1600" dirty="0" err="1"/>
            <a:t>BeautifulSoup</a:t>
          </a:r>
          <a:endParaRPr lang="en-US" sz="1600" dirty="0"/>
        </a:p>
      </dgm:t>
    </dgm:pt>
    <dgm:pt modelId="{59BFC749-7BC1-B643-B7F9-A71B39B9B2F7}" type="parTrans" cxnId="{997AD05D-DDD7-6141-B36A-A259C1371E1B}">
      <dgm:prSet/>
      <dgm:spPr/>
      <dgm:t>
        <a:bodyPr/>
        <a:lstStyle/>
        <a:p>
          <a:endParaRPr lang="fr-FR"/>
        </a:p>
      </dgm:t>
    </dgm:pt>
    <dgm:pt modelId="{536804C7-46CE-A14E-9B4A-8C1BC41C2FDB}" type="sibTrans" cxnId="{997AD05D-DDD7-6141-B36A-A259C1371E1B}">
      <dgm:prSet/>
      <dgm:spPr/>
      <dgm:t>
        <a:bodyPr/>
        <a:lstStyle/>
        <a:p>
          <a:endParaRPr lang="en-US" dirty="0"/>
        </a:p>
      </dgm:t>
    </dgm:pt>
    <dgm:pt modelId="{2642416F-0B25-CE42-B6A6-69A447795094}">
      <dgm:prSet custT="1"/>
      <dgm:spPr/>
      <dgm:t>
        <a:bodyPr/>
        <a:lstStyle/>
        <a:p>
          <a:pPr rtl="0"/>
          <a:r>
            <a:rPr lang="fr-FR" sz="1600" dirty="0" err="1"/>
            <a:t>Locate</a:t>
          </a:r>
          <a:r>
            <a:rPr lang="fr-FR" sz="1600" dirty="0"/>
            <a:t> Target Table</a:t>
          </a:r>
          <a:endParaRPr lang="en-US" sz="1600" dirty="0"/>
        </a:p>
      </dgm:t>
    </dgm:pt>
    <dgm:pt modelId="{3EB4573A-BBFF-EB4F-921E-90A023E3EB2C}" type="parTrans" cxnId="{214A5D58-6E4F-A54B-9650-5FE08A96B97F}">
      <dgm:prSet/>
      <dgm:spPr/>
      <dgm:t>
        <a:bodyPr/>
        <a:lstStyle/>
        <a:p>
          <a:endParaRPr lang="fr-FR"/>
        </a:p>
      </dgm:t>
    </dgm:pt>
    <dgm:pt modelId="{4E1CDB0F-29F1-C041-9341-7C2527B04091}" type="sibTrans" cxnId="{214A5D58-6E4F-A54B-9650-5FE08A96B97F}">
      <dgm:prSet/>
      <dgm:spPr/>
      <dgm:t>
        <a:bodyPr/>
        <a:lstStyle/>
        <a:p>
          <a:endParaRPr lang="en-US" dirty="0"/>
        </a:p>
      </dgm:t>
    </dgm:pt>
    <dgm:pt modelId="{5A639CCA-E6D0-5448-B39D-429B2308C383}">
      <dgm:prSet custT="1"/>
      <dgm:spPr/>
      <dgm:t>
        <a:bodyPr/>
        <a:lstStyle/>
        <a:p>
          <a:pPr rtl="0"/>
          <a:r>
            <a:rPr lang="fr-FR" sz="1600" dirty="0" err="1"/>
            <a:t>Extract</a:t>
          </a:r>
          <a:r>
            <a:rPr lang="fr-FR" sz="1600" dirty="0"/>
            <a:t> Headers and </a:t>
          </a:r>
          <a:r>
            <a:rPr lang="fr-FR" sz="1600" dirty="0" err="1"/>
            <a:t>Rows</a:t>
          </a:r>
          <a:endParaRPr lang="en-US" sz="1600" dirty="0"/>
        </a:p>
      </dgm:t>
    </dgm:pt>
    <dgm:pt modelId="{D6396A19-625A-E84F-8E98-3E435B474C5D}" type="parTrans" cxnId="{388D11E7-4325-0146-A3FD-B7D67E0EAF3F}">
      <dgm:prSet/>
      <dgm:spPr/>
      <dgm:t>
        <a:bodyPr/>
        <a:lstStyle/>
        <a:p>
          <a:endParaRPr lang="fr-FR"/>
        </a:p>
      </dgm:t>
    </dgm:pt>
    <dgm:pt modelId="{F91B1D5E-AD3B-114D-9C47-29B22FB9B453}" type="sibTrans" cxnId="{388D11E7-4325-0146-A3FD-B7D67E0EAF3F}">
      <dgm:prSet/>
      <dgm:spPr/>
      <dgm:t>
        <a:bodyPr/>
        <a:lstStyle/>
        <a:p>
          <a:endParaRPr lang="en-US" dirty="0"/>
        </a:p>
      </dgm:t>
    </dgm:pt>
    <dgm:pt modelId="{784D38E4-84EB-DD4C-8D9D-EB517B4EBECA}">
      <dgm:prSet custT="1"/>
      <dgm:spPr/>
      <dgm:t>
        <a:bodyPr/>
        <a:lstStyle/>
        <a:p>
          <a:pPr rtl="0"/>
          <a:r>
            <a:rPr lang="fr-FR" sz="1600" dirty="0" err="1"/>
            <a:t>lean</a:t>
          </a:r>
          <a:r>
            <a:rPr lang="fr-FR" sz="1600" dirty="0"/>
            <a:t> and Structure Data</a:t>
          </a:r>
          <a:endParaRPr lang="en-US" sz="1600" dirty="0"/>
        </a:p>
      </dgm:t>
    </dgm:pt>
    <dgm:pt modelId="{FFB54C5E-C399-4E42-B71B-8E1673B47092}" type="parTrans" cxnId="{6F7DF72A-B5AD-4E49-A24C-247900F53A0C}">
      <dgm:prSet/>
      <dgm:spPr/>
      <dgm:t>
        <a:bodyPr/>
        <a:lstStyle/>
        <a:p>
          <a:endParaRPr lang="fr-FR"/>
        </a:p>
      </dgm:t>
    </dgm:pt>
    <dgm:pt modelId="{2A5325C4-6E5A-234A-90FA-2DB21B3A9F9D}" type="sibTrans" cxnId="{6F7DF72A-B5AD-4E49-A24C-247900F53A0C}">
      <dgm:prSet/>
      <dgm:spPr/>
      <dgm:t>
        <a:bodyPr/>
        <a:lstStyle/>
        <a:p>
          <a:endParaRPr lang="en-US" dirty="0"/>
        </a:p>
      </dgm:t>
    </dgm:pt>
    <dgm:pt modelId="{4325D3D3-7EA2-144C-8D5B-B193E89F3B31}">
      <dgm:prSet custT="1"/>
      <dgm:spPr/>
      <dgm:t>
        <a:bodyPr/>
        <a:lstStyle/>
        <a:p>
          <a:pPr rtl="0"/>
          <a:r>
            <a:rPr lang="fr-FR" sz="1600" dirty="0"/>
            <a:t>Store in Data Frame and e</a:t>
          </a:r>
          <a:r>
            <a:rPr lang="en-US" sz="1600" dirty="0" err="1"/>
            <a:t>xport</a:t>
          </a:r>
          <a:r>
            <a:rPr lang="en-US" sz="1600" dirty="0"/>
            <a:t> to CSV</a:t>
          </a:r>
        </a:p>
      </dgm:t>
    </dgm:pt>
    <dgm:pt modelId="{96B20108-422A-0D49-B2DC-4B20AB3CD376}" type="parTrans" cxnId="{92692D14-68DA-3946-85D8-5FCABD15E585}">
      <dgm:prSet/>
      <dgm:spPr/>
      <dgm:t>
        <a:bodyPr/>
        <a:lstStyle/>
        <a:p>
          <a:endParaRPr lang="fr-FR"/>
        </a:p>
      </dgm:t>
    </dgm:pt>
    <dgm:pt modelId="{998842FB-BAC0-4D4D-9B6B-6A33F2D8F91C}" type="sibTrans" cxnId="{92692D14-68DA-3946-85D8-5FCABD15E585}">
      <dgm:prSet/>
      <dgm:spPr/>
      <dgm:t>
        <a:bodyPr/>
        <a:lstStyle/>
        <a:p>
          <a:endParaRPr lang="fr-FR"/>
        </a:p>
      </dgm:t>
    </dgm:pt>
    <dgm:pt modelId="{3782F748-2155-9E46-856E-23016441F07A}" type="pres">
      <dgm:prSet presAssocID="{7A617306-BFC1-AD47-8885-39037A656ACD}" presName="Name0" presStyleCnt="0">
        <dgm:presLayoutVars>
          <dgm:dir/>
          <dgm:resizeHandles val="exact"/>
        </dgm:presLayoutVars>
      </dgm:prSet>
      <dgm:spPr/>
    </dgm:pt>
    <dgm:pt modelId="{0A442402-BA80-BF4E-818D-DE4F2F8AEB1C}" type="pres">
      <dgm:prSet presAssocID="{F3B42436-96FF-D444-A4F1-04B59230866E}" presName="node" presStyleLbl="node1" presStyleIdx="0" presStyleCnt="7" custScaleX="121000" custScaleY="121855">
        <dgm:presLayoutVars>
          <dgm:bulletEnabled val="1"/>
        </dgm:presLayoutVars>
      </dgm:prSet>
      <dgm:spPr/>
    </dgm:pt>
    <dgm:pt modelId="{3BC1077B-33A3-4945-8215-2E64DB331FCD}" type="pres">
      <dgm:prSet presAssocID="{1368929D-FCCD-EB46-B9B9-CE355D638CC8}" presName="sibTrans" presStyleLbl="sibTrans2D1" presStyleIdx="0" presStyleCnt="6"/>
      <dgm:spPr/>
    </dgm:pt>
    <dgm:pt modelId="{2B46DDDB-6927-0A4F-B2A9-39257A6E0320}" type="pres">
      <dgm:prSet presAssocID="{1368929D-FCCD-EB46-B9B9-CE355D638CC8}" presName="connectorText" presStyleLbl="sibTrans2D1" presStyleIdx="0" presStyleCnt="6"/>
      <dgm:spPr/>
    </dgm:pt>
    <dgm:pt modelId="{E49B67F6-E98E-4C4C-9D6E-CCB98C7CC76D}" type="pres">
      <dgm:prSet presAssocID="{4A185EFF-F9C1-E74D-862D-3F96FE948B4F}" presName="node" presStyleLbl="node1" presStyleIdx="1" presStyleCnt="7" custScaleX="121000" custScaleY="121855">
        <dgm:presLayoutVars>
          <dgm:bulletEnabled val="1"/>
        </dgm:presLayoutVars>
      </dgm:prSet>
      <dgm:spPr/>
    </dgm:pt>
    <dgm:pt modelId="{0B821D9B-8383-CF4F-8A2D-1BD6006DBCEC}" type="pres">
      <dgm:prSet presAssocID="{E736B5D0-F609-DB46-815C-FCF04066F296}" presName="sibTrans" presStyleLbl="sibTrans2D1" presStyleIdx="1" presStyleCnt="6"/>
      <dgm:spPr/>
    </dgm:pt>
    <dgm:pt modelId="{3A7E7498-2BE4-F245-9BC1-5C00DF68D467}" type="pres">
      <dgm:prSet presAssocID="{E736B5D0-F609-DB46-815C-FCF04066F296}" presName="connectorText" presStyleLbl="sibTrans2D1" presStyleIdx="1" presStyleCnt="6"/>
      <dgm:spPr/>
    </dgm:pt>
    <dgm:pt modelId="{976663D9-2FAA-AE47-A41B-B2B7C113A7FA}" type="pres">
      <dgm:prSet presAssocID="{486C5E1A-6CAE-8342-9C6D-9557E9A27673}" presName="node" presStyleLbl="node1" presStyleIdx="2" presStyleCnt="7" custScaleX="121000" custScaleY="121855">
        <dgm:presLayoutVars>
          <dgm:bulletEnabled val="1"/>
        </dgm:presLayoutVars>
      </dgm:prSet>
      <dgm:spPr/>
    </dgm:pt>
    <dgm:pt modelId="{5241A633-6CAF-324A-BF71-57F48308C790}" type="pres">
      <dgm:prSet presAssocID="{536804C7-46CE-A14E-9B4A-8C1BC41C2FDB}" presName="sibTrans" presStyleLbl="sibTrans2D1" presStyleIdx="2" presStyleCnt="6"/>
      <dgm:spPr/>
    </dgm:pt>
    <dgm:pt modelId="{501DCC2B-5B44-5A42-B252-0638EAC84D9E}" type="pres">
      <dgm:prSet presAssocID="{536804C7-46CE-A14E-9B4A-8C1BC41C2FDB}" presName="connectorText" presStyleLbl="sibTrans2D1" presStyleIdx="2" presStyleCnt="6"/>
      <dgm:spPr/>
    </dgm:pt>
    <dgm:pt modelId="{FC3E8542-AD84-234E-BBD0-C260CC7088D8}" type="pres">
      <dgm:prSet presAssocID="{2642416F-0B25-CE42-B6A6-69A447795094}" presName="node" presStyleLbl="node1" presStyleIdx="3" presStyleCnt="7" custScaleX="121000" custScaleY="121855">
        <dgm:presLayoutVars>
          <dgm:bulletEnabled val="1"/>
        </dgm:presLayoutVars>
      </dgm:prSet>
      <dgm:spPr/>
    </dgm:pt>
    <dgm:pt modelId="{F2EFE180-9539-6248-A862-4AA76F90A15B}" type="pres">
      <dgm:prSet presAssocID="{4E1CDB0F-29F1-C041-9341-7C2527B04091}" presName="sibTrans" presStyleLbl="sibTrans2D1" presStyleIdx="3" presStyleCnt="6"/>
      <dgm:spPr/>
    </dgm:pt>
    <dgm:pt modelId="{E951F228-C4C0-6246-AA47-94EC0C4A025F}" type="pres">
      <dgm:prSet presAssocID="{4E1CDB0F-29F1-C041-9341-7C2527B04091}" presName="connectorText" presStyleLbl="sibTrans2D1" presStyleIdx="3" presStyleCnt="6"/>
      <dgm:spPr/>
    </dgm:pt>
    <dgm:pt modelId="{D64DDB53-CCEB-1647-BA56-81E117780445}" type="pres">
      <dgm:prSet presAssocID="{5A639CCA-E6D0-5448-B39D-429B2308C383}" presName="node" presStyleLbl="node1" presStyleIdx="4" presStyleCnt="7" custScaleX="121000" custScaleY="121855">
        <dgm:presLayoutVars>
          <dgm:bulletEnabled val="1"/>
        </dgm:presLayoutVars>
      </dgm:prSet>
      <dgm:spPr/>
    </dgm:pt>
    <dgm:pt modelId="{15810BDD-7474-6842-9F69-8EFD664CEF4E}" type="pres">
      <dgm:prSet presAssocID="{F91B1D5E-AD3B-114D-9C47-29B22FB9B453}" presName="sibTrans" presStyleLbl="sibTrans2D1" presStyleIdx="4" presStyleCnt="6"/>
      <dgm:spPr/>
    </dgm:pt>
    <dgm:pt modelId="{C90F2457-9E77-5240-B486-8D7E20033962}" type="pres">
      <dgm:prSet presAssocID="{F91B1D5E-AD3B-114D-9C47-29B22FB9B453}" presName="connectorText" presStyleLbl="sibTrans2D1" presStyleIdx="4" presStyleCnt="6"/>
      <dgm:spPr/>
    </dgm:pt>
    <dgm:pt modelId="{9FCE3AAC-2AF1-634A-A1E9-DC19F68AD4BE}" type="pres">
      <dgm:prSet presAssocID="{784D38E4-84EB-DD4C-8D9D-EB517B4EBECA}" presName="node" presStyleLbl="node1" presStyleIdx="5" presStyleCnt="7" custScaleX="121000" custScaleY="121855">
        <dgm:presLayoutVars>
          <dgm:bulletEnabled val="1"/>
        </dgm:presLayoutVars>
      </dgm:prSet>
      <dgm:spPr/>
    </dgm:pt>
    <dgm:pt modelId="{62DAA9DF-316C-B84C-90AD-45FC5AA8647C}" type="pres">
      <dgm:prSet presAssocID="{2A5325C4-6E5A-234A-90FA-2DB21B3A9F9D}" presName="sibTrans" presStyleLbl="sibTrans2D1" presStyleIdx="5" presStyleCnt="6"/>
      <dgm:spPr/>
    </dgm:pt>
    <dgm:pt modelId="{E4296DF3-A635-6D44-B3D6-9AF3F59B1576}" type="pres">
      <dgm:prSet presAssocID="{2A5325C4-6E5A-234A-90FA-2DB21B3A9F9D}" presName="connectorText" presStyleLbl="sibTrans2D1" presStyleIdx="5" presStyleCnt="6"/>
      <dgm:spPr/>
    </dgm:pt>
    <dgm:pt modelId="{A5BB6B98-EF0E-1544-87FE-FD735F2F37AE}" type="pres">
      <dgm:prSet presAssocID="{4325D3D3-7EA2-144C-8D5B-B193E89F3B31}" presName="node" presStyleLbl="node1" presStyleIdx="6" presStyleCnt="7" custScaleX="121000" custScaleY="121855">
        <dgm:presLayoutVars>
          <dgm:bulletEnabled val="1"/>
        </dgm:presLayoutVars>
      </dgm:prSet>
      <dgm:spPr/>
    </dgm:pt>
  </dgm:ptLst>
  <dgm:cxnLst>
    <dgm:cxn modelId="{92692D14-68DA-3946-85D8-5FCABD15E585}" srcId="{7A617306-BFC1-AD47-8885-39037A656ACD}" destId="{4325D3D3-7EA2-144C-8D5B-B193E89F3B31}" srcOrd="6" destOrd="0" parTransId="{96B20108-422A-0D49-B2DC-4B20AB3CD376}" sibTransId="{998842FB-BAC0-4D4D-9B6B-6A33F2D8F91C}"/>
    <dgm:cxn modelId="{F96E7019-D807-9F4E-B72E-D9DD9C972445}" type="presOf" srcId="{5A639CCA-E6D0-5448-B39D-429B2308C383}" destId="{D64DDB53-CCEB-1647-BA56-81E117780445}" srcOrd="0" destOrd="0" presId="urn:microsoft.com/office/officeart/2005/8/layout/process1"/>
    <dgm:cxn modelId="{55FD2D26-E155-A74E-9D3C-197351C4B59C}" type="presOf" srcId="{536804C7-46CE-A14E-9B4A-8C1BC41C2FDB}" destId="{501DCC2B-5B44-5A42-B252-0638EAC84D9E}" srcOrd="1" destOrd="0" presId="urn:microsoft.com/office/officeart/2005/8/layout/process1"/>
    <dgm:cxn modelId="{06012727-1312-3543-B0FA-56F95B47F6B3}" type="presOf" srcId="{1368929D-FCCD-EB46-B9B9-CE355D638CC8}" destId="{3BC1077B-33A3-4945-8215-2E64DB331FCD}" srcOrd="0" destOrd="0" presId="urn:microsoft.com/office/officeart/2005/8/layout/process1"/>
    <dgm:cxn modelId="{308BC52A-9CC3-7940-89EA-DCFAF388EB57}" type="presOf" srcId="{F3B42436-96FF-D444-A4F1-04B59230866E}" destId="{0A442402-BA80-BF4E-818D-DE4F2F8AEB1C}" srcOrd="0" destOrd="0" presId="urn:microsoft.com/office/officeart/2005/8/layout/process1"/>
    <dgm:cxn modelId="{9373F72A-2783-534E-8067-BAD8E5EEE6E2}" type="presOf" srcId="{4A185EFF-F9C1-E74D-862D-3F96FE948B4F}" destId="{E49B67F6-E98E-4C4C-9D6E-CCB98C7CC76D}" srcOrd="0" destOrd="0" presId="urn:microsoft.com/office/officeart/2005/8/layout/process1"/>
    <dgm:cxn modelId="{6F7DF72A-B5AD-4E49-A24C-247900F53A0C}" srcId="{7A617306-BFC1-AD47-8885-39037A656ACD}" destId="{784D38E4-84EB-DD4C-8D9D-EB517B4EBECA}" srcOrd="5" destOrd="0" parTransId="{FFB54C5E-C399-4E42-B71B-8E1673B47092}" sibTransId="{2A5325C4-6E5A-234A-90FA-2DB21B3A9F9D}"/>
    <dgm:cxn modelId="{12033932-2F06-2A42-8A57-5D2566775244}" type="presOf" srcId="{486C5E1A-6CAE-8342-9C6D-9557E9A27673}" destId="{976663D9-2FAA-AE47-A41B-B2B7C113A7FA}" srcOrd="0" destOrd="0" presId="urn:microsoft.com/office/officeart/2005/8/layout/process1"/>
    <dgm:cxn modelId="{81D59632-736A-6048-B400-2263F94AB3CF}" type="presOf" srcId="{2A5325C4-6E5A-234A-90FA-2DB21B3A9F9D}" destId="{62DAA9DF-316C-B84C-90AD-45FC5AA8647C}" srcOrd="0" destOrd="0" presId="urn:microsoft.com/office/officeart/2005/8/layout/process1"/>
    <dgm:cxn modelId="{9A01C23A-3745-0C49-A553-D2DF010AC489}" type="presOf" srcId="{536804C7-46CE-A14E-9B4A-8C1BC41C2FDB}" destId="{5241A633-6CAF-324A-BF71-57F48308C790}" srcOrd="0" destOrd="0" presId="urn:microsoft.com/office/officeart/2005/8/layout/process1"/>
    <dgm:cxn modelId="{4FCACC3D-24AE-B44F-A2E2-6734618E29AB}" type="presOf" srcId="{4E1CDB0F-29F1-C041-9341-7C2527B04091}" destId="{F2EFE180-9539-6248-A862-4AA76F90A15B}" srcOrd="0" destOrd="0" presId="urn:microsoft.com/office/officeart/2005/8/layout/process1"/>
    <dgm:cxn modelId="{5B61FC42-0EB9-1E4A-8BCC-911808BC0EFD}" type="presOf" srcId="{E736B5D0-F609-DB46-815C-FCF04066F296}" destId="{0B821D9B-8383-CF4F-8A2D-1BD6006DBCEC}" srcOrd="0" destOrd="0" presId="urn:microsoft.com/office/officeart/2005/8/layout/process1"/>
    <dgm:cxn modelId="{570ED357-AB7E-2B44-A34C-2C414AF78260}" srcId="{7A617306-BFC1-AD47-8885-39037A656ACD}" destId="{4A185EFF-F9C1-E74D-862D-3F96FE948B4F}" srcOrd="1" destOrd="0" parTransId="{20293625-84F3-9B4D-A03C-50EED75EE5D0}" sibTransId="{E736B5D0-F609-DB46-815C-FCF04066F296}"/>
    <dgm:cxn modelId="{214A5D58-6E4F-A54B-9650-5FE08A96B97F}" srcId="{7A617306-BFC1-AD47-8885-39037A656ACD}" destId="{2642416F-0B25-CE42-B6A6-69A447795094}" srcOrd="3" destOrd="0" parTransId="{3EB4573A-BBFF-EB4F-921E-90A023E3EB2C}" sibTransId="{4E1CDB0F-29F1-C041-9341-7C2527B04091}"/>
    <dgm:cxn modelId="{997AD05D-DDD7-6141-B36A-A259C1371E1B}" srcId="{7A617306-BFC1-AD47-8885-39037A656ACD}" destId="{486C5E1A-6CAE-8342-9C6D-9557E9A27673}" srcOrd="2" destOrd="0" parTransId="{59BFC749-7BC1-B643-B7F9-A71B39B9B2F7}" sibTransId="{536804C7-46CE-A14E-9B4A-8C1BC41C2FDB}"/>
    <dgm:cxn modelId="{CD3D2461-C902-F949-9144-AE806AC0A21A}" type="presOf" srcId="{7A617306-BFC1-AD47-8885-39037A656ACD}" destId="{3782F748-2155-9E46-856E-23016441F07A}" srcOrd="0" destOrd="0" presId="urn:microsoft.com/office/officeart/2005/8/layout/process1"/>
    <dgm:cxn modelId="{4DBD2884-D3AE-F24F-AD96-0E45530701DF}" type="presOf" srcId="{2A5325C4-6E5A-234A-90FA-2DB21B3A9F9D}" destId="{E4296DF3-A635-6D44-B3D6-9AF3F59B1576}" srcOrd="1" destOrd="0" presId="urn:microsoft.com/office/officeart/2005/8/layout/process1"/>
    <dgm:cxn modelId="{AA30D388-5FC8-DA41-B19D-C0CBDB6A50E8}" type="presOf" srcId="{4E1CDB0F-29F1-C041-9341-7C2527B04091}" destId="{E951F228-C4C0-6246-AA47-94EC0C4A025F}" srcOrd="1" destOrd="0" presId="urn:microsoft.com/office/officeart/2005/8/layout/process1"/>
    <dgm:cxn modelId="{54760D8F-7B4C-424B-8965-79E583C26827}" type="presOf" srcId="{4325D3D3-7EA2-144C-8D5B-B193E89F3B31}" destId="{A5BB6B98-EF0E-1544-87FE-FD735F2F37AE}" srcOrd="0" destOrd="0" presId="urn:microsoft.com/office/officeart/2005/8/layout/process1"/>
    <dgm:cxn modelId="{C4D7099A-79AB-AE49-9FA2-CDF456CFBC60}" type="presOf" srcId="{784D38E4-84EB-DD4C-8D9D-EB517B4EBECA}" destId="{9FCE3AAC-2AF1-634A-A1E9-DC19F68AD4BE}" srcOrd="0" destOrd="0" presId="urn:microsoft.com/office/officeart/2005/8/layout/process1"/>
    <dgm:cxn modelId="{1BCBFAA7-827D-854C-9FB4-F02D21AE9306}" type="presOf" srcId="{1368929D-FCCD-EB46-B9B9-CE355D638CC8}" destId="{2B46DDDB-6927-0A4F-B2A9-39257A6E0320}" srcOrd="1" destOrd="0" presId="urn:microsoft.com/office/officeart/2005/8/layout/process1"/>
    <dgm:cxn modelId="{C8FD39B8-E735-0243-99F0-30A46D5D8A52}" type="presOf" srcId="{F91B1D5E-AD3B-114D-9C47-29B22FB9B453}" destId="{15810BDD-7474-6842-9F69-8EFD664CEF4E}" srcOrd="0" destOrd="0" presId="urn:microsoft.com/office/officeart/2005/8/layout/process1"/>
    <dgm:cxn modelId="{C4DCDFBA-44D0-C147-9059-610233308944}" srcId="{7A617306-BFC1-AD47-8885-39037A656ACD}" destId="{F3B42436-96FF-D444-A4F1-04B59230866E}" srcOrd="0" destOrd="0" parTransId="{2C8FFF26-F6E2-E849-9ECD-C534E17A181F}" sibTransId="{1368929D-FCCD-EB46-B9B9-CE355D638CC8}"/>
    <dgm:cxn modelId="{0DB5B9CC-FAAD-DA49-9541-274980086D9F}" type="presOf" srcId="{F91B1D5E-AD3B-114D-9C47-29B22FB9B453}" destId="{C90F2457-9E77-5240-B486-8D7E20033962}" srcOrd="1" destOrd="0" presId="urn:microsoft.com/office/officeart/2005/8/layout/process1"/>
    <dgm:cxn modelId="{A75483CD-7018-8E43-8EE6-923E75AB0E98}" type="presOf" srcId="{2642416F-0B25-CE42-B6A6-69A447795094}" destId="{FC3E8542-AD84-234E-BBD0-C260CC7088D8}" srcOrd="0" destOrd="0" presId="urn:microsoft.com/office/officeart/2005/8/layout/process1"/>
    <dgm:cxn modelId="{B3201CD0-8E88-7D4D-8DC3-BB2952D55B76}" type="presOf" srcId="{E736B5D0-F609-DB46-815C-FCF04066F296}" destId="{3A7E7498-2BE4-F245-9BC1-5C00DF68D467}" srcOrd="1" destOrd="0" presId="urn:microsoft.com/office/officeart/2005/8/layout/process1"/>
    <dgm:cxn modelId="{388D11E7-4325-0146-A3FD-B7D67E0EAF3F}" srcId="{7A617306-BFC1-AD47-8885-39037A656ACD}" destId="{5A639CCA-E6D0-5448-B39D-429B2308C383}" srcOrd="4" destOrd="0" parTransId="{D6396A19-625A-E84F-8E98-3E435B474C5D}" sibTransId="{F91B1D5E-AD3B-114D-9C47-29B22FB9B453}"/>
    <dgm:cxn modelId="{C0082B5C-7C63-7B48-AB6D-67DB5CBC0810}" type="presParOf" srcId="{3782F748-2155-9E46-856E-23016441F07A}" destId="{0A442402-BA80-BF4E-818D-DE4F2F8AEB1C}" srcOrd="0" destOrd="0" presId="urn:microsoft.com/office/officeart/2005/8/layout/process1"/>
    <dgm:cxn modelId="{79972092-B38D-D64A-9F00-D067F304A86E}" type="presParOf" srcId="{3782F748-2155-9E46-856E-23016441F07A}" destId="{3BC1077B-33A3-4945-8215-2E64DB331FCD}" srcOrd="1" destOrd="0" presId="urn:microsoft.com/office/officeart/2005/8/layout/process1"/>
    <dgm:cxn modelId="{1EDD68F0-9DAA-FC40-B7C9-8AF84157DC23}" type="presParOf" srcId="{3BC1077B-33A3-4945-8215-2E64DB331FCD}" destId="{2B46DDDB-6927-0A4F-B2A9-39257A6E0320}" srcOrd="0" destOrd="0" presId="urn:microsoft.com/office/officeart/2005/8/layout/process1"/>
    <dgm:cxn modelId="{97E15098-BF36-C347-B34A-414B717580C9}" type="presParOf" srcId="{3782F748-2155-9E46-856E-23016441F07A}" destId="{E49B67F6-E98E-4C4C-9D6E-CCB98C7CC76D}" srcOrd="2" destOrd="0" presId="urn:microsoft.com/office/officeart/2005/8/layout/process1"/>
    <dgm:cxn modelId="{F5384264-E752-564F-A43A-060AA9729DA1}" type="presParOf" srcId="{3782F748-2155-9E46-856E-23016441F07A}" destId="{0B821D9B-8383-CF4F-8A2D-1BD6006DBCEC}" srcOrd="3" destOrd="0" presId="urn:microsoft.com/office/officeart/2005/8/layout/process1"/>
    <dgm:cxn modelId="{BDC85EFF-3627-404A-9A21-032B314ABBA2}" type="presParOf" srcId="{0B821D9B-8383-CF4F-8A2D-1BD6006DBCEC}" destId="{3A7E7498-2BE4-F245-9BC1-5C00DF68D467}" srcOrd="0" destOrd="0" presId="urn:microsoft.com/office/officeart/2005/8/layout/process1"/>
    <dgm:cxn modelId="{69937990-FCA3-694F-88FD-6F6F078CA53C}" type="presParOf" srcId="{3782F748-2155-9E46-856E-23016441F07A}" destId="{976663D9-2FAA-AE47-A41B-B2B7C113A7FA}" srcOrd="4" destOrd="0" presId="urn:microsoft.com/office/officeart/2005/8/layout/process1"/>
    <dgm:cxn modelId="{B2F81218-3379-0D4D-A2F4-88DAB87A36D5}" type="presParOf" srcId="{3782F748-2155-9E46-856E-23016441F07A}" destId="{5241A633-6CAF-324A-BF71-57F48308C790}" srcOrd="5" destOrd="0" presId="urn:microsoft.com/office/officeart/2005/8/layout/process1"/>
    <dgm:cxn modelId="{FADFEC87-1942-F640-BEBA-078A6AF9DB47}" type="presParOf" srcId="{5241A633-6CAF-324A-BF71-57F48308C790}" destId="{501DCC2B-5B44-5A42-B252-0638EAC84D9E}" srcOrd="0" destOrd="0" presId="urn:microsoft.com/office/officeart/2005/8/layout/process1"/>
    <dgm:cxn modelId="{E8691E99-37D8-CE47-BF9F-F2FA967E2E35}" type="presParOf" srcId="{3782F748-2155-9E46-856E-23016441F07A}" destId="{FC3E8542-AD84-234E-BBD0-C260CC7088D8}" srcOrd="6" destOrd="0" presId="urn:microsoft.com/office/officeart/2005/8/layout/process1"/>
    <dgm:cxn modelId="{FE283DBF-AA77-D44D-9159-D00E1616F015}" type="presParOf" srcId="{3782F748-2155-9E46-856E-23016441F07A}" destId="{F2EFE180-9539-6248-A862-4AA76F90A15B}" srcOrd="7" destOrd="0" presId="urn:microsoft.com/office/officeart/2005/8/layout/process1"/>
    <dgm:cxn modelId="{4100EB00-BE14-9243-85A9-5C940D36403A}" type="presParOf" srcId="{F2EFE180-9539-6248-A862-4AA76F90A15B}" destId="{E951F228-C4C0-6246-AA47-94EC0C4A025F}" srcOrd="0" destOrd="0" presId="urn:microsoft.com/office/officeart/2005/8/layout/process1"/>
    <dgm:cxn modelId="{27A4AE1F-42AA-9B4A-AE3B-F35FF93E3AE3}" type="presParOf" srcId="{3782F748-2155-9E46-856E-23016441F07A}" destId="{D64DDB53-CCEB-1647-BA56-81E117780445}" srcOrd="8" destOrd="0" presId="urn:microsoft.com/office/officeart/2005/8/layout/process1"/>
    <dgm:cxn modelId="{AE9FF360-E859-3C4D-AE7B-64592834A961}" type="presParOf" srcId="{3782F748-2155-9E46-856E-23016441F07A}" destId="{15810BDD-7474-6842-9F69-8EFD664CEF4E}" srcOrd="9" destOrd="0" presId="urn:microsoft.com/office/officeart/2005/8/layout/process1"/>
    <dgm:cxn modelId="{B389D18A-F98F-2B43-9E2D-4C0460900A55}" type="presParOf" srcId="{15810BDD-7474-6842-9F69-8EFD664CEF4E}" destId="{C90F2457-9E77-5240-B486-8D7E20033962}" srcOrd="0" destOrd="0" presId="urn:microsoft.com/office/officeart/2005/8/layout/process1"/>
    <dgm:cxn modelId="{DB6FA9F9-C37E-B140-A7A7-08C2B6686620}" type="presParOf" srcId="{3782F748-2155-9E46-856E-23016441F07A}" destId="{9FCE3AAC-2AF1-634A-A1E9-DC19F68AD4BE}" srcOrd="10" destOrd="0" presId="urn:microsoft.com/office/officeart/2005/8/layout/process1"/>
    <dgm:cxn modelId="{6DF399E1-5C00-B940-B1F0-12B5CCDC4287}" type="presParOf" srcId="{3782F748-2155-9E46-856E-23016441F07A}" destId="{62DAA9DF-316C-B84C-90AD-45FC5AA8647C}" srcOrd="11" destOrd="0" presId="urn:microsoft.com/office/officeart/2005/8/layout/process1"/>
    <dgm:cxn modelId="{0CD72CC9-7D45-FF40-9692-6BD550DAE36F}" type="presParOf" srcId="{62DAA9DF-316C-B84C-90AD-45FC5AA8647C}" destId="{E4296DF3-A635-6D44-B3D6-9AF3F59B1576}" srcOrd="0" destOrd="0" presId="urn:microsoft.com/office/officeart/2005/8/layout/process1"/>
    <dgm:cxn modelId="{122ADAF9-F80E-AF4A-AE21-623103774691}" type="presParOf" srcId="{3782F748-2155-9E46-856E-23016441F07A}" destId="{A5BB6B98-EF0E-1544-87FE-FD735F2F37AE}" srcOrd="1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617306-BFC1-AD47-8885-39037A656ACD}" type="doc">
      <dgm:prSet loTypeId="urn:microsoft.com/office/officeart/2005/8/layout/process1" loCatId="" qsTypeId="urn:microsoft.com/office/officeart/2005/8/quickstyle/simple1" qsCatId="simple" csTypeId="urn:microsoft.com/office/officeart/2005/8/colors/accent1_2" csCatId="accent1" phldr="1"/>
      <dgm:spPr/>
      <dgm:t>
        <a:bodyPr/>
        <a:lstStyle/>
        <a:p>
          <a:endParaRPr lang="fr-FR"/>
        </a:p>
      </dgm:t>
    </dgm:pt>
    <dgm:pt modelId="{F3B42436-96FF-D444-A4F1-04B59230866E}">
      <dgm:prSet phldrT="[Texte]" custT="1"/>
      <dgm:spPr/>
      <dgm:t>
        <a:bodyPr/>
        <a:lstStyle/>
        <a:p>
          <a:pPr rtl="0"/>
          <a:r>
            <a:rPr lang="fr-FR" sz="1600" dirty="0" err="1"/>
            <a:t>Load</a:t>
          </a:r>
          <a:r>
            <a:rPr lang="fr-FR" sz="1600" dirty="0"/>
            <a:t> CSV Data </a:t>
          </a:r>
          <a:r>
            <a:rPr lang="fr-FR" sz="1600" dirty="0" err="1"/>
            <a:t>into</a:t>
          </a:r>
          <a:r>
            <a:rPr lang="fr-FR" sz="1600" dirty="0"/>
            <a:t> </a:t>
          </a:r>
          <a:r>
            <a:rPr lang="fr-FR" sz="1600" dirty="0" err="1"/>
            <a:t>DataFrame</a:t>
          </a:r>
          <a:endParaRPr lang="en-US" sz="1600" dirty="0"/>
        </a:p>
      </dgm:t>
    </dgm:pt>
    <dgm:pt modelId="{2C8FFF26-F6E2-E849-9ECD-C534E17A181F}" type="parTrans" cxnId="{C4DCDFBA-44D0-C147-9059-610233308944}">
      <dgm:prSet/>
      <dgm:spPr/>
      <dgm:t>
        <a:bodyPr/>
        <a:lstStyle/>
        <a:p>
          <a:endParaRPr lang="fr-FR"/>
        </a:p>
      </dgm:t>
    </dgm:pt>
    <dgm:pt modelId="{1368929D-FCCD-EB46-B9B9-CE355D638CC8}" type="sibTrans" cxnId="{C4DCDFBA-44D0-C147-9059-610233308944}">
      <dgm:prSet/>
      <dgm:spPr/>
      <dgm:t>
        <a:bodyPr/>
        <a:lstStyle/>
        <a:p>
          <a:endParaRPr lang="en-US" dirty="0"/>
        </a:p>
      </dgm:t>
    </dgm:pt>
    <dgm:pt modelId="{4A185EFF-F9C1-E74D-862D-3F96FE948B4F}">
      <dgm:prSet phldrT="[Texte]" custT="1"/>
      <dgm:spPr/>
      <dgm:t>
        <a:bodyPr/>
        <a:lstStyle/>
        <a:p>
          <a:pPr rtl="0"/>
          <a:r>
            <a:rPr lang="fr-FR" sz="1600" dirty="0"/>
            <a:t>Check for </a:t>
          </a:r>
          <a:r>
            <a:rPr lang="fr-FR" sz="1600" dirty="0" err="1"/>
            <a:t>Missing</a:t>
          </a:r>
          <a:r>
            <a:rPr lang="fr-FR" sz="1600" dirty="0"/>
            <a:t> Values</a:t>
          </a:r>
          <a:endParaRPr lang="en-US" sz="1600" dirty="0"/>
        </a:p>
      </dgm:t>
    </dgm:pt>
    <dgm:pt modelId="{20293625-84F3-9B4D-A03C-50EED75EE5D0}" type="parTrans" cxnId="{570ED357-AB7E-2B44-A34C-2C414AF78260}">
      <dgm:prSet/>
      <dgm:spPr/>
      <dgm:t>
        <a:bodyPr/>
        <a:lstStyle/>
        <a:p>
          <a:endParaRPr lang="fr-FR"/>
        </a:p>
      </dgm:t>
    </dgm:pt>
    <dgm:pt modelId="{E736B5D0-F609-DB46-815C-FCF04066F296}" type="sibTrans" cxnId="{570ED357-AB7E-2B44-A34C-2C414AF78260}">
      <dgm:prSet/>
      <dgm:spPr/>
      <dgm:t>
        <a:bodyPr/>
        <a:lstStyle/>
        <a:p>
          <a:endParaRPr lang="en-US" dirty="0"/>
        </a:p>
      </dgm:t>
    </dgm:pt>
    <dgm:pt modelId="{486C5E1A-6CAE-8342-9C6D-9557E9A27673}">
      <dgm:prSet phldrT="[Texte]" custT="1"/>
      <dgm:spPr/>
      <dgm:t>
        <a:bodyPr/>
        <a:lstStyle/>
        <a:p>
          <a:pPr rtl="0"/>
          <a:r>
            <a:rPr lang="fr-FR" sz="1600" dirty="0" err="1"/>
            <a:t>Identify</a:t>
          </a:r>
          <a:r>
            <a:rPr lang="fr-FR" sz="1600" dirty="0"/>
            <a:t> Data Types</a:t>
          </a:r>
          <a:endParaRPr lang="en-US" sz="1600" dirty="0"/>
        </a:p>
      </dgm:t>
    </dgm:pt>
    <dgm:pt modelId="{59BFC749-7BC1-B643-B7F9-A71B39B9B2F7}" type="parTrans" cxnId="{997AD05D-DDD7-6141-B36A-A259C1371E1B}">
      <dgm:prSet/>
      <dgm:spPr/>
      <dgm:t>
        <a:bodyPr/>
        <a:lstStyle/>
        <a:p>
          <a:endParaRPr lang="fr-FR"/>
        </a:p>
      </dgm:t>
    </dgm:pt>
    <dgm:pt modelId="{536804C7-46CE-A14E-9B4A-8C1BC41C2FDB}" type="sibTrans" cxnId="{997AD05D-DDD7-6141-B36A-A259C1371E1B}">
      <dgm:prSet/>
      <dgm:spPr/>
      <dgm:t>
        <a:bodyPr/>
        <a:lstStyle/>
        <a:p>
          <a:endParaRPr lang="en-US" dirty="0"/>
        </a:p>
      </dgm:t>
    </dgm:pt>
    <dgm:pt modelId="{2642416F-0B25-CE42-B6A6-69A447795094}">
      <dgm:prSet custT="1"/>
      <dgm:spPr/>
      <dgm:t>
        <a:bodyPr/>
        <a:lstStyle/>
        <a:p>
          <a:pPr rtl="0"/>
          <a:r>
            <a:rPr lang="fr-FR" sz="1600" dirty="0" err="1"/>
            <a:t>Analyze</a:t>
          </a:r>
          <a:r>
            <a:rPr lang="fr-FR" sz="1600" dirty="0"/>
            <a:t> Launch Sites, </a:t>
          </a:r>
          <a:r>
            <a:rPr lang="fr-FR" sz="1600" dirty="0" err="1"/>
            <a:t>Orbits</a:t>
          </a:r>
          <a:r>
            <a:rPr lang="fr-FR" sz="1600" dirty="0"/>
            <a:t>, </a:t>
          </a:r>
          <a:r>
            <a:rPr lang="fr-FR" sz="1600" dirty="0" err="1"/>
            <a:t>Outcomes</a:t>
          </a:r>
          <a:endParaRPr lang="en-US" sz="1600" dirty="0"/>
        </a:p>
      </dgm:t>
    </dgm:pt>
    <dgm:pt modelId="{3EB4573A-BBFF-EB4F-921E-90A023E3EB2C}" type="parTrans" cxnId="{214A5D58-6E4F-A54B-9650-5FE08A96B97F}">
      <dgm:prSet/>
      <dgm:spPr/>
      <dgm:t>
        <a:bodyPr/>
        <a:lstStyle/>
        <a:p>
          <a:endParaRPr lang="fr-FR"/>
        </a:p>
      </dgm:t>
    </dgm:pt>
    <dgm:pt modelId="{4E1CDB0F-29F1-C041-9341-7C2527B04091}" type="sibTrans" cxnId="{214A5D58-6E4F-A54B-9650-5FE08A96B97F}">
      <dgm:prSet/>
      <dgm:spPr/>
      <dgm:t>
        <a:bodyPr/>
        <a:lstStyle/>
        <a:p>
          <a:endParaRPr lang="en-US" dirty="0"/>
        </a:p>
      </dgm:t>
    </dgm:pt>
    <dgm:pt modelId="{5A639CCA-E6D0-5448-B39D-429B2308C383}">
      <dgm:prSet custT="1"/>
      <dgm:spPr/>
      <dgm:t>
        <a:bodyPr/>
        <a:lstStyle/>
        <a:p>
          <a:pPr rtl="0"/>
          <a:r>
            <a:rPr lang="fr-FR" sz="1600" dirty="0" err="1"/>
            <a:t>reate</a:t>
          </a:r>
          <a:r>
            <a:rPr lang="fr-FR" sz="1600" dirty="0"/>
            <a:t> </a:t>
          </a:r>
          <a:r>
            <a:rPr lang="fr-FR" sz="1600" dirty="0" err="1"/>
            <a:t>Binary</a:t>
          </a:r>
          <a:r>
            <a:rPr lang="fr-FR" sz="1600" dirty="0"/>
            <a:t> Landing </a:t>
          </a:r>
          <a:r>
            <a:rPr lang="fr-FR" sz="1600" dirty="0" err="1"/>
            <a:t>Outcome</a:t>
          </a:r>
          <a:r>
            <a:rPr lang="fr-FR" sz="1600" dirty="0"/>
            <a:t> Label</a:t>
          </a:r>
          <a:endParaRPr lang="en-US" sz="1600" dirty="0"/>
        </a:p>
      </dgm:t>
    </dgm:pt>
    <dgm:pt modelId="{D6396A19-625A-E84F-8E98-3E435B474C5D}" type="parTrans" cxnId="{388D11E7-4325-0146-A3FD-B7D67E0EAF3F}">
      <dgm:prSet/>
      <dgm:spPr/>
      <dgm:t>
        <a:bodyPr/>
        <a:lstStyle/>
        <a:p>
          <a:endParaRPr lang="fr-FR"/>
        </a:p>
      </dgm:t>
    </dgm:pt>
    <dgm:pt modelId="{F91B1D5E-AD3B-114D-9C47-29B22FB9B453}" type="sibTrans" cxnId="{388D11E7-4325-0146-A3FD-B7D67E0EAF3F}">
      <dgm:prSet/>
      <dgm:spPr/>
      <dgm:t>
        <a:bodyPr/>
        <a:lstStyle/>
        <a:p>
          <a:endParaRPr lang="en-US" dirty="0"/>
        </a:p>
      </dgm:t>
    </dgm:pt>
    <dgm:pt modelId="{784D38E4-84EB-DD4C-8D9D-EB517B4EBECA}">
      <dgm:prSet custT="1"/>
      <dgm:spPr/>
      <dgm:t>
        <a:bodyPr/>
        <a:lstStyle/>
        <a:p>
          <a:pPr rtl="0"/>
          <a:r>
            <a:rPr lang="fr-FR" sz="1600" dirty="0"/>
            <a:t>Export </a:t>
          </a:r>
          <a:r>
            <a:rPr lang="fr-FR" sz="1600" dirty="0" err="1"/>
            <a:t>Cleaned</a:t>
          </a:r>
          <a:r>
            <a:rPr lang="fr-FR" sz="1600" dirty="0"/>
            <a:t> Data to CSV</a:t>
          </a:r>
          <a:endParaRPr lang="en-US" sz="1600" dirty="0"/>
        </a:p>
      </dgm:t>
    </dgm:pt>
    <dgm:pt modelId="{FFB54C5E-C399-4E42-B71B-8E1673B47092}" type="parTrans" cxnId="{6F7DF72A-B5AD-4E49-A24C-247900F53A0C}">
      <dgm:prSet/>
      <dgm:spPr/>
      <dgm:t>
        <a:bodyPr/>
        <a:lstStyle/>
        <a:p>
          <a:endParaRPr lang="fr-FR"/>
        </a:p>
      </dgm:t>
    </dgm:pt>
    <dgm:pt modelId="{2A5325C4-6E5A-234A-90FA-2DB21B3A9F9D}" type="sibTrans" cxnId="{6F7DF72A-B5AD-4E49-A24C-247900F53A0C}">
      <dgm:prSet/>
      <dgm:spPr/>
      <dgm:t>
        <a:bodyPr/>
        <a:lstStyle/>
        <a:p>
          <a:endParaRPr lang="en-US" dirty="0"/>
        </a:p>
      </dgm:t>
    </dgm:pt>
    <dgm:pt modelId="{3782F748-2155-9E46-856E-23016441F07A}" type="pres">
      <dgm:prSet presAssocID="{7A617306-BFC1-AD47-8885-39037A656ACD}" presName="Name0" presStyleCnt="0">
        <dgm:presLayoutVars>
          <dgm:dir/>
          <dgm:resizeHandles val="exact"/>
        </dgm:presLayoutVars>
      </dgm:prSet>
      <dgm:spPr/>
    </dgm:pt>
    <dgm:pt modelId="{0A442402-BA80-BF4E-818D-DE4F2F8AEB1C}" type="pres">
      <dgm:prSet presAssocID="{F3B42436-96FF-D444-A4F1-04B59230866E}" presName="node" presStyleLbl="node1" presStyleIdx="0" presStyleCnt="6" custScaleX="121000" custScaleY="121855">
        <dgm:presLayoutVars>
          <dgm:bulletEnabled val="1"/>
        </dgm:presLayoutVars>
      </dgm:prSet>
      <dgm:spPr/>
    </dgm:pt>
    <dgm:pt modelId="{3BC1077B-33A3-4945-8215-2E64DB331FCD}" type="pres">
      <dgm:prSet presAssocID="{1368929D-FCCD-EB46-B9B9-CE355D638CC8}" presName="sibTrans" presStyleLbl="sibTrans2D1" presStyleIdx="0" presStyleCnt="5"/>
      <dgm:spPr/>
    </dgm:pt>
    <dgm:pt modelId="{2B46DDDB-6927-0A4F-B2A9-39257A6E0320}" type="pres">
      <dgm:prSet presAssocID="{1368929D-FCCD-EB46-B9B9-CE355D638CC8}" presName="connectorText" presStyleLbl="sibTrans2D1" presStyleIdx="0" presStyleCnt="5"/>
      <dgm:spPr/>
    </dgm:pt>
    <dgm:pt modelId="{E49B67F6-E98E-4C4C-9D6E-CCB98C7CC76D}" type="pres">
      <dgm:prSet presAssocID="{4A185EFF-F9C1-E74D-862D-3F96FE948B4F}" presName="node" presStyleLbl="node1" presStyleIdx="1" presStyleCnt="6" custScaleX="121000" custScaleY="121855">
        <dgm:presLayoutVars>
          <dgm:bulletEnabled val="1"/>
        </dgm:presLayoutVars>
      </dgm:prSet>
      <dgm:spPr/>
    </dgm:pt>
    <dgm:pt modelId="{0B821D9B-8383-CF4F-8A2D-1BD6006DBCEC}" type="pres">
      <dgm:prSet presAssocID="{E736B5D0-F609-DB46-815C-FCF04066F296}" presName="sibTrans" presStyleLbl="sibTrans2D1" presStyleIdx="1" presStyleCnt="5"/>
      <dgm:spPr/>
    </dgm:pt>
    <dgm:pt modelId="{3A7E7498-2BE4-F245-9BC1-5C00DF68D467}" type="pres">
      <dgm:prSet presAssocID="{E736B5D0-F609-DB46-815C-FCF04066F296}" presName="connectorText" presStyleLbl="sibTrans2D1" presStyleIdx="1" presStyleCnt="5"/>
      <dgm:spPr/>
    </dgm:pt>
    <dgm:pt modelId="{976663D9-2FAA-AE47-A41B-B2B7C113A7FA}" type="pres">
      <dgm:prSet presAssocID="{486C5E1A-6CAE-8342-9C6D-9557E9A27673}" presName="node" presStyleLbl="node1" presStyleIdx="2" presStyleCnt="6" custScaleX="121000" custScaleY="121855">
        <dgm:presLayoutVars>
          <dgm:bulletEnabled val="1"/>
        </dgm:presLayoutVars>
      </dgm:prSet>
      <dgm:spPr/>
    </dgm:pt>
    <dgm:pt modelId="{5241A633-6CAF-324A-BF71-57F48308C790}" type="pres">
      <dgm:prSet presAssocID="{536804C7-46CE-A14E-9B4A-8C1BC41C2FDB}" presName="sibTrans" presStyleLbl="sibTrans2D1" presStyleIdx="2" presStyleCnt="5"/>
      <dgm:spPr/>
    </dgm:pt>
    <dgm:pt modelId="{501DCC2B-5B44-5A42-B252-0638EAC84D9E}" type="pres">
      <dgm:prSet presAssocID="{536804C7-46CE-A14E-9B4A-8C1BC41C2FDB}" presName="connectorText" presStyleLbl="sibTrans2D1" presStyleIdx="2" presStyleCnt="5"/>
      <dgm:spPr/>
    </dgm:pt>
    <dgm:pt modelId="{FC3E8542-AD84-234E-BBD0-C260CC7088D8}" type="pres">
      <dgm:prSet presAssocID="{2642416F-0B25-CE42-B6A6-69A447795094}" presName="node" presStyleLbl="node1" presStyleIdx="3" presStyleCnt="6" custScaleX="121000" custScaleY="121855">
        <dgm:presLayoutVars>
          <dgm:bulletEnabled val="1"/>
        </dgm:presLayoutVars>
      </dgm:prSet>
      <dgm:spPr/>
    </dgm:pt>
    <dgm:pt modelId="{F2EFE180-9539-6248-A862-4AA76F90A15B}" type="pres">
      <dgm:prSet presAssocID="{4E1CDB0F-29F1-C041-9341-7C2527B04091}" presName="sibTrans" presStyleLbl="sibTrans2D1" presStyleIdx="3" presStyleCnt="5"/>
      <dgm:spPr/>
    </dgm:pt>
    <dgm:pt modelId="{E951F228-C4C0-6246-AA47-94EC0C4A025F}" type="pres">
      <dgm:prSet presAssocID="{4E1CDB0F-29F1-C041-9341-7C2527B04091}" presName="connectorText" presStyleLbl="sibTrans2D1" presStyleIdx="3" presStyleCnt="5"/>
      <dgm:spPr/>
    </dgm:pt>
    <dgm:pt modelId="{D64DDB53-CCEB-1647-BA56-81E117780445}" type="pres">
      <dgm:prSet presAssocID="{5A639CCA-E6D0-5448-B39D-429B2308C383}" presName="node" presStyleLbl="node1" presStyleIdx="4" presStyleCnt="6" custScaleX="121000" custScaleY="121855">
        <dgm:presLayoutVars>
          <dgm:bulletEnabled val="1"/>
        </dgm:presLayoutVars>
      </dgm:prSet>
      <dgm:spPr/>
    </dgm:pt>
    <dgm:pt modelId="{15810BDD-7474-6842-9F69-8EFD664CEF4E}" type="pres">
      <dgm:prSet presAssocID="{F91B1D5E-AD3B-114D-9C47-29B22FB9B453}" presName="sibTrans" presStyleLbl="sibTrans2D1" presStyleIdx="4" presStyleCnt="5"/>
      <dgm:spPr/>
    </dgm:pt>
    <dgm:pt modelId="{C90F2457-9E77-5240-B486-8D7E20033962}" type="pres">
      <dgm:prSet presAssocID="{F91B1D5E-AD3B-114D-9C47-29B22FB9B453}" presName="connectorText" presStyleLbl="sibTrans2D1" presStyleIdx="4" presStyleCnt="5"/>
      <dgm:spPr/>
    </dgm:pt>
    <dgm:pt modelId="{9FCE3AAC-2AF1-634A-A1E9-DC19F68AD4BE}" type="pres">
      <dgm:prSet presAssocID="{784D38E4-84EB-DD4C-8D9D-EB517B4EBECA}" presName="node" presStyleLbl="node1" presStyleIdx="5" presStyleCnt="6" custScaleX="121000" custScaleY="121855">
        <dgm:presLayoutVars>
          <dgm:bulletEnabled val="1"/>
        </dgm:presLayoutVars>
      </dgm:prSet>
      <dgm:spPr/>
    </dgm:pt>
  </dgm:ptLst>
  <dgm:cxnLst>
    <dgm:cxn modelId="{F96E7019-D807-9F4E-B72E-D9DD9C972445}" type="presOf" srcId="{5A639CCA-E6D0-5448-B39D-429B2308C383}" destId="{D64DDB53-CCEB-1647-BA56-81E117780445}" srcOrd="0" destOrd="0" presId="urn:microsoft.com/office/officeart/2005/8/layout/process1"/>
    <dgm:cxn modelId="{55FD2D26-E155-A74E-9D3C-197351C4B59C}" type="presOf" srcId="{536804C7-46CE-A14E-9B4A-8C1BC41C2FDB}" destId="{501DCC2B-5B44-5A42-B252-0638EAC84D9E}" srcOrd="1" destOrd="0" presId="urn:microsoft.com/office/officeart/2005/8/layout/process1"/>
    <dgm:cxn modelId="{06012727-1312-3543-B0FA-56F95B47F6B3}" type="presOf" srcId="{1368929D-FCCD-EB46-B9B9-CE355D638CC8}" destId="{3BC1077B-33A3-4945-8215-2E64DB331FCD}" srcOrd="0" destOrd="0" presId="urn:microsoft.com/office/officeart/2005/8/layout/process1"/>
    <dgm:cxn modelId="{308BC52A-9CC3-7940-89EA-DCFAF388EB57}" type="presOf" srcId="{F3B42436-96FF-D444-A4F1-04B59230866E}" destId="{0A442402-BA80-BF4E-818D-DE4F2F8AEB1C}" srcOrd="0" destOrd="0" presId="urn:microsoft.com/office/officeart/2005/8/layout/process1"/>
    <dgm:cxn modelId="{9373F72A-2783-534E-8067-BAD8E5EEE6E2}" type="presOf" srcId="{4A185EFF-F9C1-E74D-862D-3F96FE948B4F}" destId="{E49B67F6-E98E-4C4C-9D6E-CCB98C7CC76D}" srcOrd="0" destOrd="0" presId="urn:microsoft.com/office/officeart/2005/8/layout/process1"/>
    <dgm:cxn modelId="{6F7DF72A-B5AD-4E49-A24C-247900F53A0C}" srcId="{7A617306-BFC1-AD47-8885-39037A656ACD}" destId="{784D38E4-84EB-DD4C-8D9D-EB517B4EBECA}" srcOrd="5" destOrd="0" parTransId="{FFB54C5E-C399-4E42-B71B-8E1673B47092}" sibTransId="{2A5325C4-6E5A-234A-90FA-2DB21B3A9F9D}"/>
    <dgm:cxn modelId="{12033932-2F06-2A42-8A57-5D2566775244}" type="presOf" srcId="{486C5E1A-6CAE-8342-9C6D-9557E9A27673}" destId="{976663D9-2FAA-AE47-A41B-B2B7C113A7FA}" srcOrd="0" destOrd="0" presId="urn:microsoft.com/office/officeart/2005/8/layout/process1"/>
    <dgm:cxn modelId="{9A01C23A-3745-0C49-A553-D2DF010AC489}" type="presOf" srcId="{536804C7-46CE-A14E-9B4A-8C1BC41C2FDB}" destId="{5241A633-6CAF-324A-BF71-57F48308C790}" srcOrd="0" destOrd="0" presId="urn:microsoft.com/office/officeart/2005/8/layout/process1"/>
    <dgm:cxn modelId="{4FCACC3D-24AE-B44F-A2E2-6734618E29AB}" type="presOf" srcId="{4E1CDB0F-29F1-C041-9341-7C2527B04091}" destId="{F2EFE180-9539-6248-A862-4AA76F90A15B}" srcOrd="0" destOrd="0" presId="urn:microsoft.com/office/officeart/2005/8/layout/process1"/>
    <dgm:cxn modelId="{5B61FC42-0EB9-1E4A-8BCC-911808BC0EFD}" type="presOf" srcId="{E736B5D0-F609-DB46-815C-FCF04066F296}" destId="{0B821D9B-8383-CF4F-8A2D-1BD6006DBCEC}" srcOrd="0" destOrd="0" presId="urn:microsoft.com/office/officeart/2005/8/layout/process1"/>
    <dgm:cxn modelId="{570ED357-AB7E-2B44-A34C-2C414AF78260}" srcId="{7A617306-BFC1-AD47-8885-39037A656ACD}" destId="{4A185EFF-F9C1-E74D-862D-3F96FE948B4F}" srcOrd="1" destOrd="0" parTransId="{20293625-84F3-9B4D-A03C-50EED75EE5D0}" sibTransId="{E736B5D0-F609-DB46-815C-FCF04066F296}"/>
    <dgm:cxn modelId="{214A5D58-6E4F-A54B-9650-5FE08A96B97F}" srcId="{7A617306-BFC1-AD47-8885-39037A656ACD}" destId="{2642416F-0B25-CE42-B6A6-69A447795094}" srcOrd="3" destOrd="0" parTransId="{3EB4573A-BBFF-EB4F-921E-90A023E3EB2C}" sibTransId="{4E1CDB0F-29F1-C041-9341-7C2527B04091}"/>
    <dgm:cxn modelId="{997AD05D-DDD7-6141-B36A-A259C1371E1B}" srcId="{7A617306-BFC1-AD47-8885-39037A656ACD}" destId="{486C5E1A-6CAE-8342-9C6D-9557E9A27673}" srcOrd="2" destOrd="0" parTransId="{59BFC749-7BC1-B643-B7F9-A71B39B9B2F7}" sibTransId="{536804C7-46CE-A14E-9B4A-8C1BC41C2FDB}"/>
    <dgm:cxn modelId="{CD3D2461-C902-F949-9144-AE806AC0A21A}" type="presOf" srcId="{7A617306-BFC1-AD47-8885-39037A656ACD}" destId="{3782F748-2155-9E46-856E-23016441F07A}" srcOrd="0" destOrd="0" presId="urn:microsoft.com/office/officeart/2005/8/layout/process1"/>
    <dgm:cxn modelId="{AA30D388-5FC8-DA41-B19D-C0CBDB6A50E8}" type="presOf" srcId="{4E1CDB0F-29F1-C041-9341-7C2527B04091}" destId="{E951F228-C4C0-6246-AA47-94EC0C4A025F}" srcOrd="1" destOrd="0" presId="urn:microsoft.com/office/officeart/2005/8/layout/process1"/>
    <dgm:cxn modelId="{C4D7099A-79AB-AE49-9FA2-CDF456CFBC60}" type="presOf" srcId="{784D38E4-84EB-DD4C-8D9D-EB517B4EBECA}" destId="{9FCE3AAC-2AF1-634A-A1E9-DC19F68AD4BE}" srcOrd="0" destOrd="0" presId="urn:microsoft.com/office/officeart/2005/8/layout/process1"/>
    <dgm:cxn modelId="{1BCBFAA7-827D-854C-9FB4-F02D21AE9306}" type="presOf" srcId="{1368929D-FCCD-EB46-B9B9-CE355D638CC8}" destId="{2B46DDDB-6927-0A4F-B2A9-39257A6E0320}" srcOrd="1" destOrd="0" presId="urn:microsoft.com/office/officeart/2005/8/layout/process1"/>
    <dgm:cxn modelId="{C8FD39B8-E735-0243-99F0-30A46D5D8A52}" type="presOf" srcId="{F91B1D5E-AD3B-114D-9C47-29B22FB9B453}" destId="{15810BDD-7474-6842-9F69-8EFD664CEF4E}" srcOrd="0" destOrd="0" presId="urn:microsoft.com/office/officeart/2005/8/layout/process1"/>
    <dgm:cxn modelId="{C4DCDFBA-44D0-C147-9059-610233308944}" srcId="{7A617306-BFC1-AD47-8885-39037A656ACD}" destId="{F3B42436-96FF-D444-A4F1-04B59230866E}" srcOrd="0" destOrd="0" parTransId="{2C8FFF26-F6E2-E849-9ECD-C534E17A181F}" sibTransId="{1368929D-FCCD-EB46-B9B9-CE355D638CC8}"/>
    <dgm:cxn modelId="{0DB5B9CC-FAAD-DA49-9541-274980086D9F}" type="presOf" srcId="{F91B1D5E-AD3B-114D-9C47-29B22FB9B453}" destId="{C90F2457-9E77-5240-B486-8D7E20033962}" srcOrd="1" destOrd="0" presId="urn:microsoft.com/office/officeart/2005/8/layout/process1"/>
    <dgm:cxn modelId="{A75483CD-7018-8E43-8EE6-923E75AB0E98}" type="presOf" srcId="{2642416F-0B25-CE42-B6A6-69A447795094}" destId="{FC3E8542-AD84-234E-BBD0-C260CC7088D8}" srcOrd="0" destOrd="0" presId="urn:microsoft.com/office/officeart/2005/8/layout/process1"/>
    <dgm:cxn modelId="{B3201CD0-8E88-7D4D-8DC3-BB2952D55B76}" type="presOf" srcId="{E736B5D0-F609-DB46-815C-FCF04066F296}" destId="{3A7E7498-2BE4-F245-9BC1-5C00DF68D467}" srcOrd="1" destOrd="0" presId="urn:microsoft.com/office/officeart/2005/8/layout/process1"/>
    <dgm:cxn modelId="{388D11E7-4325-0146-A3FD-B7D67E0EAF3F}" srcId="{7A617306-BFC1-AD47-8885-39037A656ACD}" destId="{5A639CCA-E6D0-5448-B39D-429B2308C383}" srcOrd="4" destOrd="0" parTransId="{D6396A19-625A-E84F-8E98-3E435B474C5D}" sibTransId="{F91B1D5E-AD3B-114D-9C47-29B22FB9B453}"/>
    <dgm:cxn modelId="{C0082B5C-7C63-7B48-AB6D-67DB5CBC0810}" type="presParOf" srcId="{3782F748-2155-9E46-856E-23016441F07A}" destId="{0A442402-BA80-BF4E-818D-DE4F2F8AEB1C}" srcOrd="0" destOrd="0" presId="urn:microsoft.com/office/officeart/2005/8/layout/process1"/>
    <dgm:cxn modelId="{79972092-B38D-D64A-9F00-D067F304A86E}" type="presParOf" srcId="{3782F748-2155-9E46-856E-23016441F07A}" destId="{3BC1077B-33A3-4945-8215-2E64DB331FCD}" srcOrd="1" destOrd="0" presId="urn:microsoft.com/office/officeart/2005/8/layout/process1"/>
    <dgm:cxn modelId="{1EDD68F0-9DAA-FC40-B7C9-8AF84157DC23}" type="presParOf" srcId="{3BC1077B-33A3-4945-8215-2E64DB331FCD}" destId="{2B46DDDB-6927-0A4F-B2A9-39257A6E0320}" srcOrd="0" destOrd="0" presId="urn:microsoft.com/office/officeart/2005/8/layout/process1"/>
    <dgm:cxn modelId="{97E15098-BF36-C347-B34A-414B717580C9}" type="presParOf" srcId="{3782F748-2155-9E46-856E-23016441F07A}" destId="{E49B67F6-E98E-4C4C-9D6E-CCB98C7CC76D}" srcOrd="2" destOrd="0" presId="urn:microsoft.com/office/officeart/2005/8/layout/process1"/>
    <dgm:cxn modelId="{F5384264-E752-564F-A43A-060AA9729DA1}" type="presParOf" srcId="{3782F748-2155-9E46-856E-23016441F07A}" destId="{0B821D9B-8383-CF4F-8A2D-1BD6006DBCEC}" srcOrd="3" destOrd="0" presId="urn:microsoft.com/office/officeart/2005/8/layout/process1"/>
    <dgm:cxn modelId="{BDC85EFF-3627-404A-9A21-032B314ABBA2}" type="presParOf" srcId="{0B821D9B-8383-CF4F-8A2D-1BD6006DBCEC}" destId="{3A7E7498-2BE4-F245-9BC1-5C00DF68D467}" srcOrd="0" destOrd="0" presId="urn:microsoft.com/office/officeart/2005/8/layout/process1"/>
    <dgm:cxn modelId="{69937990-FCA3-694F-88FD-6F6F078CA53C}" type="presParOf" srcId="{3782F748-2155-9E46-856E-23016441F07A}" destId="{976663D9-2FAA-AE47-A41B-B2B7C113A7FA}" srcOrd="4" destOrd="0" presId="urn:microsoft.com/office/officeart/2005/8/layout/process1"/>
    <dgm:cxn modelId="{B2F81218-3379-0D4D-A2F4-88DAB87A36D5}" type="presParOf" srcId="{3782F748-2155-9E46-856E-23016441F07A}" destId="{5241A633-6CAF-324A-BF71-57F48308C790}" srcOrd="5" destOrd="0" presId="urn:microsoft.com/office/officeart/2005/8/layout/process1"/>
    <dgm:cxn modelId="{FADFEC87-1942-F640-BEBA-078A6AF9DB47}" type="presParOf" srcId="{5241A633-6CAF-324A-BF71-57F48308C790}" destId="{501DCC2B-5B44-5A42-B252-0638EAC84D9E}" srcOrd="0" destOrd="0" presId="urn:microsoft.com/office/officeart/2005/8/layout/process1"/>
    <dgm:cxn modelId="{E8691E99-37D8-CE47-BF9F-F2FA967E2E35}" type="presParOf" srcId="{3782F748-2155-9E46-856E-23016441F07A}" destId="{FC3E8542-AD84-234E-BBD0-C260CC7088D8}" srcOrd="6" destOrd="0" presId="urn:microsoft.com/office/officeart/2005/8/layout/process1"/>
    <dgm:cxn modelId="{FE283DBF-AA77-D44D-9159-D00E1616F015}" type="presParOf" srcId="{3782F748-2155-9E46-856E-23016441F07A}" destId="{F2EFE180-9539-6248-A862-4AA76F90A15B}" srcOrd="7" destOrd="0" presId="urn:microsoft.com/office/officeart/2005/8/layout/process1"/>
    <dgm:cxn modelId="{4100EB00-BE14-9243-85A9-5C940D36403A}" type="presParOf" srcId="{F2EFE180-9539-6248-A862-4AA76F90A15B}" destId="{E951F228-C4C0-6246-AA47-94EC0C4A025F}" srcOrd="0" destOrd="0" presId="urn:microsoft.com/office/officeart/2005/8/layout/process1"/>
    <dgm:cxn modelId="{27A4AE1F-42AA-9B4A-AE3B-F35FF93E3AE3}" type="presParOf" srcId="{3782F748-2155-9E46-856E-23016441F07A}" destId="{D64DDB53-CCEB-1647-BA56-81E117780445}" srcOrd="8" destOrd="0" presId="urn:microsoft.com/office/officeart/2005/8/layout/process1"/>
    <dgm:cxn modelId="{AE9FF360-E859-3C4D-AE7B-64592834A961}" type="presParOf" srcId="{3782F748-2155-9E46-856E-23016441F07A}" destId="{15810BDD-7474-6842-9F69-8EFD664CEF4E}" srcOrd="9" destOrd="0" presId="urn:microsoft.com/office/officeart/2005/8/layout/process1"/>
    <dgm:cxn modelId="{B389D18A-F98F-2B43-9E2D-4C0460900A55}" type="presParOf" srcId="{15810BDD-7474-6842-9F69-8EFD664CEF4E}" destId="{C90F2457-9E77-5240-B486-8D7E20033962}" srcOrd="0" destOrd="0" presId="urn:microsoft.com/office/officeart/2005/8/layout/process1"/>
    <dgm:cxn modelId="{DB6FA9F9-C37E-B140-A7A7-08C2B6686620}" type="presParOf" srcId="{3782F748-2155-9E46-856E-23016441F07A}" destId="{9FCE3AAC-2AF1-634A-A1E9-DC19F68AD4BE}"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442402-BA80-BF4E-818D-DE4F2F8AEB1C}">
      <dsp:nvSpPr>
        <dsp:cNvPr id="0" name=""/>
        <dsp:cNvSpPr/>
      </dsp:nvSpPr>
      <dsp:spPr>
        <a:xfrm>
          <a:off x="10329" y="491634"/>
          <a:ext cx="1263498" cy="2149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Identify SpaceX API Endpoint</a:t>
          </a:r>
        </a:p>
      </dsp:txBody>
      <dsp:txXfrm>
        <a:off x="47336" y="528641"/>
        <a:ext cx="1189484" cy="2075142"/>
      </dsp:txXfrm>
    </dsp:sp>
    <dsp:sp modelId="{3BC1077B-33A3-4945-8215-2E64DB331FCD}">
      <dsp:nvSpPr>
        <dsp:cNvPr id="0" name=""/>
        <dsp:cNvSpPr/>
      </dsp:nvSpPr>
      <dsp:spPr>
        <a:xfrm>
          <a:off x="1378249" y="1436730"/>
          <a:ext cx="221373" cy="2589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1378249" y="1488523"/>
        <a:ext cx="154961" cy="155378"/>
      </dsp:txXfrm>
    </dsp:sp>
    <dsp:sp modelId="{E49B67F6-E98E-4C4C-9D6E-CCB98C7CC76D}">
      <dsp:nvSpPr>
        <dsp:cNvPr id="0" name=""/>
        <dsp:cNvSpPr/>
      </dsp:nvSpPr>
      <dsp:spPr>
        <a:xfrm>
          <a:off x="1691513" y="491634"/>
          <a:ext cx="1263498" cy="2149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Send GET Request to /v4/launches/past</a:t>
          </a:r>
        </a:p>
      </dsp:txBody>
      <dsp:txXfrm>
        <a:off x="1728520" y="528641"/>
        <a:ext cx="1189484" cy="2075142"/>
      </dsp:txXfrm>
    </dsp:sp>
    <dsp:sp modelId="{0B821D9B-8383-CF4F-8A2D-1BD6006DBCEC}">
      <dsp:nvSpPr>
        <dsp:cNvPr id="0" name=""/>
        <dsp:cNvSpPr/>
      </dsp:nvSpPr>
      <dsp:spPr>
        <a:xfrm>
          <a:off x="3059433" y="1436730"/>
          <a:ext cx="221373" cy="2589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3059433" y="1488523"/>
        <a:ext cx="154961" cy="155378"/>
      </dsp:txXfrm>
    </dsp:sp>
    <dsp:sp modelId="{976663D9-2FAA-AE47-A41B-B2B7C113A7FA}">
      <dsp:nvSpPr>
        <dsp:cNvPr id="0" name=""/>
        <dsp:cNvSpPr/>
      </dsp:nvSpPr>
      <dsp:spPr>
        <a:xfrm>
          <a:off x="3372697" y="491634"/>
          <a:ext cx="1263498" cy="2149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Parse JSON Response to </a:t>
          </a:r>
          <a:r>
            <a:rPr lang="en-US" sz="1600" kern="1200" dirty="0" err="1"/>
            <a:t>DataFrame</a:t>
          </a:r>
          <a:endParaRPr lang="en-US" sz="1600" kern="1200" dirty="0"/>
        </a:p>
      </dsp:txBody>
      <dsp:txXfrm>
        <a:off x="3409704" y="528641"/>
        <a:ext cx="1189484" cy="2075142"/>
      </dsp:txXfrm>
    </dsp:sp>
    <dsp:sp modelId="{5241A633-6CAF-324A-BF71-57F48308C790}">
      <dsp:nvSpPr>
        <dsp:cNvPr id="0" name=""/>
        <dsp:cNvSpPr/>
      </dsp:nvSpPr>
      <dsp:spPr>
        <a:xfrm>
          <a:off x="4740617" y="1436730"/>
          <a:ext cx="221373" cy="2589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4740617" y="1488523"/>
        <a:ext cx="154961" cy="155378"/>
      </dsp:txXfrm>
    </dsp:sp>
    <dsp:sp modelId="{FC3E8542-AD84-234E-BBD0-C260CC7088D8}">
      <dsp:nvSpPr>
        <dsp:cNvPr id="0" name=""/>
        <dsp:cNvSpPr/>
      </dsp:nvSpPr>
      <dsp:spPr>
        <a:xfrm>
          <a:off x="5053881" y="491634"/>
          <a:ext cx="1263498" cy="2149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For each launch:</a:t>
          </a:r>
          <a:br>
            <a:rPr lang="en-US" sz="1600" kern="1200" dirty="0"/>
          </a:br>
          <a:r>
            <a:rPr lang="en-US" sz="1600" kern="1200" dirty="0"/>
            <a:t>GET rocket, payload, launchpad, core details by core ID</a:t>
          </a:r>
        </a:p>
      </dsp:txBody>
      <dsp:txXfrm>
        <a:off x="5090888" y="528641"/>
        <a:ext cx="1189484" cy="2075142"/>
      </dsp:txXfrm>
    </dsp:sp>
    <dsp:sp modelId="{F2EFE180-9539-6248-A862-4AA76F90A15B}">
      <dsp:nvSpPr>
        <dsp:cNvPr id="0" name=""/>
        <dsp:cNvSpPr/>
      </dsp:nvSpPr>
      <dsp:spPr>
        <a:xfrm>
          <a:off x="6421801" y="1436730"/>
          <a:ext cx="221373" cy="2589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6421801" y="1488523"/>
        <a:ext cx="154961" cy="155378"/>
      </dsp:txXfrm>
    </dsp:sp>
    <dsp:sp modelId="{D64DDB53-CCEB-1647-BA56-81E117780445}">
      <dsp:nvSpPr>
        <dsp:cNvPr id="0" name=""/>
        <dsp:cNvSpPr/>
      </dsp:nvSpPr>
      <dsp:spPr>
        <a:xfrm>
          <a:off x="6735065" y="491634"/>
          <a:ext cx="1263498" cy="2149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Aggregate all details into unified </a:t>
          </a:r>
          <a:r>
            <a:rPr lang="en-US" sz="1600" kern="1200" dirty="0" err="1"/>
            <a:t>DataFrame</a:t>
          </a:r>
          <a:endParaRPr lang="en-US" sz="1600" kern="1200" dirty="0"/>
        </a:p>
      </dsp:txBody>
      <dsp:txXfrm>
        <a:off x="6772072" y="528641"/>
        <a:ext cx="1189484" cy="2075142"/>
      </dsp:txXfrm>
    </dsp:sp>
    <dsp:sp modelId="{15810BDD-7474-6842-9F69-8EFD664CEF4E}">
      <dsp:nvSpPr>
        <dsp:cNvPr id="0" name=""/>
        <dsp:cNvSpPr/>
      </dsp:nvSpPr>
      <dsp:spPr>
        <a:xfrm>
          <a:off x="8102985" y="1436730"/>
          <a:ext cx="221373" cy="2589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8102985" y="1488523"/>
        <a:ext cx="154961" cy="155378"/>
      </dsp:txXfrm>
    </dsp:sp>
    <dsp:sp modelId="{9FCE3AAC-2AF1-634A-A1E9-DC19F68AD4BE}">
      <dsp:nvSpPr>
        <dsp:cNvPr id="0" name=""/>
        <dsp:cNvSpPr/>
      </dsp:nvSpPr>
      <dsp:spPr>
        <a:xfrm>
          <a:off x="8416249" y="491634"/>
          <a:ext cx="1263498" cy="2149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Clean and filter data </a:t>
          </a:r>
        </a:p>
      </dsp:txBody>
      <dsp:txXfrm>
        <a:off x="8453256" y="528641"/>
        <a:ext cx="1189484" cy="2075142"/>
      </dsp:txXfrm>
    </dsp:sp>
    <dsp:sp modelId="{62DAA9DF-316C-B84C-90AD-45FC5AA8647C}">
      <dsp:nvSpPr>
        <dsp:cNvPr id="0" name=""/>
        <dsp:cNvSpPr/>
      </dsp:nvSpPr>
      <dsp:spPr>
        <a:xfrm>
          <a:off x="9784169" y="1436730"/>
          <a:ext cx="221373" cy="2589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9784169" y="1488523"/>
        <a:ext cx="154961" cy="155378"/>
      </dsp:txXfrm>
    </dsp:sp>
    <dsp:sp modelId="{A5BB6B98-EF0E-1544-87FE-FD735F2F37AE}">
      <dsp:nvSpPr>
        <dsp:cNvPr id="0" name=""/>
        <dsp:cNvSpPr/>
      </dsp:nvSpPr>
      <dsp:spPr>
        <a:xfrm>
          <a:off x="10097433" y="491634"/>
          <a:ext cx="1263498" cy="2149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Export to CSV</a:t>
          </a:r>
        </a:p>
      </dsp:txBody>
      <dsp:txXfrm>
        <a:off x="10134440" y="528641"/>
        <a:ext cx="1189484" cy="20751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442402-BA80-BF4E-818D-DE4F2F8AEB1C}">
      <dsp:nvSpPr>
        <dsp:cNvPr id="0" name=""/>
        <dsp:cNvSpPr/>
      </dsp:nvSpPr>
      <dsp:spPr>
        <a:xfrm>
          <a:off x="10329" y="907929"/>
          <a:ext cx="1263498" cy="131656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fr-FR" sz="1600" kern="1200" dirty="0" err="1"/>
            <a:t>Identify</a:t>
          </a:r>
          <a:r>
            <a:rPr lang="fr-FR" sz="1600" kern="1200" dirty="0"/>
            <a:t> </a:t>
          </a:r>
          <a:r>
            <a:rPr lang="fr-FR" sz="1600" kern="1200" dirty="0" err="1"/>
            <a:t>Wikipedia</a:t>
          </a:r>
          <a:r>
            <a:rPr lang="fr-FR" sz="1600" kern="1200" dirty="0"/>
            <a:t> URL</a:t>
          </a:r>
          <a:endParaRPr lang="en-US" sz="1600" kern="1200" dirty="0"/>
        </a:p>
      </dsp:txBody>
      <dsp:txXfrm>
        <a:off x="47336" y="944936"/>
        <a:ext cx="1189484" cy="1242551"/>
      </dsp:txXfrm>
    </dsp:sp>
    <dsp:sp modelId="{3BC1077B-33A3-4945-8215-2E64DB331FCD}">
      <dsp:nvSpPr>
        <dsp:cNvPr id="0" name=""/>
        <dsp:cNvSpPr/>
      </dsp:nvSpPr>
      <dsp:spPr>
        <a:xfrm>
          <a:off x="1378249" y="1436730"/>
          <a:ext cx="221373" cy="2589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1378249" y="1488523"/>
        <a:ext cx="154961" cy="155378"/>
      </dsp:txXfrm>
    </dsp:sp>
    <dsp:sp modelId="{E49B67F6-E98E-4C4C-9D6E-CCB98C7CC76D}">
      <dsp:nvSpPr>
        <dsp:cNvPr id="0" name=""/>
        <dsp:cNvSpPr/>
      </dsp:nvSpPr>
      <dsp:spPr>
        <a:xfrm>
          <a:off x="1691513" y="907929"/>
          <a:ext cx="1263498" cy="131656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fr-FR" sz="1600" kern="1200" dirty="0" err="1"/>
            <a:t>Send</a:t>
          </a:r>
          <a:r>
            <a:rPr lang="fr-FR" sz="1600" kern="1200" dirty="0"/>
            <a:t> HTTP GET </a:t>
          </a:r>
          <a:r>
            <a:rPr lang="fr-FR" sz="1600" kern="1200" dirty="0" err="1"/>
            <a:t>Request</a:t>
          </a:r>
          <a:r>
            <a:rPr lang="fr-FR" sz="1600" kern="1200" dirty="0"/>
            <a:t> with User-Agent</a:t>
          </a:r>
          <a:endParaRPr lang="en-US" sz="1600" kern="1200" dirty="0"/>
        </a:p>
      </dsp:txBody>
      <dsp:txXfrm>
        <a:off x="1728520" y="944936"/>
        <a:ext cx="1189484" cy="1242551"/>
      </dsp:txXfrm>
    </dsp:sp>
    <dsp:sp modelId="{0B821D9B-8383-CF4F-8A2D-1BD6006DBCEC}">
      <dsp:nvSpPr>
        <dsp:cNvPr id="0" name=""/>
        <dsp:cNvSpPr/>
      </dsp:nvSpPr>
      <dsp:spPr>
        <a:xfrm>
          <a:off x="3059433" y="1436730"/>
          <a:ext cx="221373" cy="2589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3059433" y="1488523"/>
        <a:ext cx="154961" cy="155378"/>
      </dsp:txXfrm>
    </dsp:sp>
    <dsp:sp modelId="{976663D9-2FAA-AE47-A41B-B2B7C113A7FA}">
      <dsp:nvSpPr>
        <dsp:cNvPr id="0" name=""/>
        <dsp:cNvSpPr/>
      </dsp:nvSpPr>
      <dsp:spPr>
        <a:xfrm>
          <a:off x="3372697" y="907929"/>
          <a:ext cx="1263498" cy="131656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fr-FR" sz="1600" kern="1200" dirty="0"/>
            <a:t>Parse HTML with </a:t>
          </a:r>
          <a:r>
            <a:rPr lang="fr-FR" sz="1600" kern="1200" dirty="0" err="1"/>
            <a:t>BeautifulSoup</a:t>
          </a:r>
          <a:endParaRPr lang="en-US" sz="1600" kern="1200" dirty="0"/>
        </a:p>
      </dsp:txBody>
      <dsp:txXfrm>
        <a:off x="3409704" y="944936"/>
        <a:ext cx="1189484" cy="1242551"/>
      </dsp:txXfrm>
    </dsp:sp>
    <dsp:sp modelId="{5241A633-6CAF-324A-BF71-57F48308C790}">
      <dsp:nvSpPr>
        <dsp:cNvPr id="0" name=""/>
        <dsp:cNvSpPr/>
      </dsp:nvSpPr>
      <dsp:spPr>
        <a:xfrm>
          <a:off x="4740617" y="1436730"/>
          <a:ext cx="221373" cy="2589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4740617" y="1488523"/>
        <a:ext cx="154961" cy="155378"/>
      </dsp:txXfrm>
    </dsp:sp>
    <dsp:sp modelId="{FC3E8542-AD84-234E-BBD0-C260CC7088D8}">
      <dsp:nvSpPr>
        <dsp:cNvPr id="0" name=""/>
        <dsp:cNvSpPr/>
      </dsp:nvSpPr>
      <dsp:spPr>
        <a:xfrm>
          <a:off x="5053881" y="907929"/>
          <a:ext cx="1263498" cy="131656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fr-FR" sz="1600" kern="1200" dirty="0" err="1"/>
            <a:t>Locate</a:t>
          </a:r>
          <a:r>
            <a:rPr lang="fr-FR" sz="1600" kern="1200" dirty="0"/>
            <a:t> Target Table</a:t>
          </a:r>
          <a:endParaRPr lang="en-US" sz="1600" kern="1200" dirty="0"/>
        </a:p>
      </dsp:txBody>
      <dsp:txXfrm>
        <a:off x="5090888" y="944936"/>
        <a:ext cx="1189484" cy="1242551"/>
      </dsp:txXfrm>
    </dsp:sp>
    <dsp:sp modelId="{F2EFE180-9539-6248-A862-4AA76F90A15B}">
      <dsp:nvSpPr>
        <dsp:cNvPr id="0" name=""/>
        <dsp:cNvSpPr/>
      </dsp:nvSpPr>
      <dsp:spPr>
        <a:xfrm>
          <a:off x="6421801" y="1436730"/>
          <a:ext cx="221373" cy="2589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6421801" y="1488523"/>
        <a:ext cx="154961" cy="155378"/>
      </dsp:txXfrm>
    </dsp:sp>
    <dsp:sp modelId="{D64DDB53-CCEB-1647-BA56-81E117780445}">
      <dsp:nvSpPr>
        <dsp:cNvPr id="0" name=""/>
        <dsp:cNvSpPr/>
      </dsp:nvSpPr>
      <dsp:spPr>
        <a:xfrm>
          <a:off x="6735065" y="907929"/>
          <a:ext cx="1263498" cy="131656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fr-FR" sz="1600" kern="1200" dirty="0" err="1"/>
            <a:t>Extract</a:t>
          </a:r>
          <a:r>
            <a:rPr lang="fr-FR" sz="1600" kern="1200" dirty="0"/>
            <a:t> Headers and </a:t>
          </a:r>
          <a:r>
            <a:rPr lang="fr-FR" sz="1600" kern="1200" dirty="0" err="1"/>
            <a:t>Rows</a:t>
          </a:r>
          <a:endParaRPr lang="en-US" sz="1600" kern="1200" dirty="0"/>
        </a:p>
      </dsp:txBody>
      <dsp:txXfrm>
        <a:off x="6772072" y="944936"/>
        <a:ext cx="1189484" cy="1242551"/>
      </dsp:txXfrm>
    </dsp:sp>
    <dsp:sp modelId="{15810BDD-7474-6842-9F69-8EFD664CEF4E}">
      <dsp:nvSpPr>
        <dsp:cNvPr id="0" name=""/>
        <dsp:cNvSpPr/>
      </dsp:nvSpPr>
      <dsp:spPr>
        <a:xfrm>
          <a:off x="8102985" y="1436730"/>
          <a:ext cx="221373" cy="2589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8102985" y="1488523"/>
        <a:ext cx="154961" cy="155378"/>
      </dsp:txXfrm>
    </dsp:sp>
    <dsp:sp modelId="{9FCE3AAC-2AF1-634A-A1E9-DC19F68AD4BE}">
      <dsp:nvSpPr>
        <dsp:cNvPr id="0" name=""/>
        <dsp:cNvSpPr/>
      </dsp:nvSpPr>
      <dsp:spPr>
        <a:xfrm>
          <a:off x="8416249" y="907929"/>
          <a:ext cx="1263498" cy="131656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fr-FR" sz="1600" kern="1200" dirty="0" err="1"/>
            <a:t>lean</a:t>
          </a:r>
          <a:r>
            <a:rPr lang="fr-FR" sz="1600" kern="1200" dirty="0"/>
            <a:t> and Structure Data</a:t>
          </a:r>
          <a:endParaRPr lang="en-US" sz="1600" kern="1200" dirty="0"/>
        </a:p>
      </dsp:txBody>
      <dsp:txXfrm>
        <a:off x="8453256" y="944936"/>
        <a:ext cx="1189484" cy="1242551"/>
      </dsp:txXfrm>
    </dsp:sp>
    <dsp:sp modelId="{62DAA9DF-316C-B84C-90AD-45FC5AA8647C}">
      <dsp:nvSpPr>
        <dsp:cNvPr id="0" name=""/>
        <dsp:cNvSpPr/>
      </dsp:nvSpPr>
      <dsp:spPr>
        <a:xfrm>
          <a:off x="9784169" y="1436730"/>
          <a:ext cx="221373" cy="2589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9784169" y="1488523"/>
        <a:ext cx="154961" cy="155378"/>
      </dsp:txXfrm>
    </dsp:sp>
    <dsp:sp modelId="{A5BB6B98-EF0E-1544-87FE-FD735F2F37AE}">
      <dsp:nvSpPr>
        <dsp:cNvPr id="0" name=""/>
        <dsp:cNvSpPr/>
      </dsp:nvSpPr>
      <dsp:spPr>
        <a:xfrm>
          <a:off x="10097433" y="907929"/>
          <a:ext cx="1263498" cy="131656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fr-FR" sz="1600" kern="1200" dirty="0"/>
            <a:t>Store in Data Frame and e</a:t>
          </a:r>
          <a:r>
            <a:rPr lang="en-US" sz="1600" kern="1200" dirty="0" err="1"/>
            <a:t>xport</a:t>
          </a:r>
          <a:r>
            <a:rPr lang="en-US" sz="1600" kern="1200" dirty="0"/>
            <a:t> to CSV</a:t>
          </a:r>
        </a:p>
      </dsp:txBody>
      <dsp:txXfrm>
        <a:off x="10134440" y="944936"/>
        <a:ext cx="1189484" cy="12425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442402-BA80-BF4E-818D-DE4F2F8AEB1C}">
      <dsp:nvSpPr>
        <dsp:cNvPr id="0" name=""/>
        <dsp:cNvSpPr/>
      </dsp:nvSpPr>
      <dsp:spPr>
        <a:xfrm>
          <a:off x="9998" y="1053519"/>
          <a:ext cx="1509731" cy="102538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fr-FR" sz="1600" kern="1200" dirty="0" err="1"/>
            <a:t>Load</a:t>
          </a:r>
          <a:r>
            <a:rPr lang="fr-FR" sz="1600" kern="1200" dirty="0"/>
            <a:t> CSV Data </a:t>
          </a:r>
          <a:r>
            <a:rPr lang="fr-FR" sz="1600" kern="1200" dirty="0" err="1"/>
            <a:t>into</a:t>
          </a:r>
          <a:r>
            <a:rPr lang="fr-FR" sz="1600" kern="1200" dirty="0"/>
            <a:t> </a:t>
          </a:r>
          <a:r>
            <a:rPr lang="fr-FR" sz="1600" kern="1200" dirty="0" err="1"/>
            <a:t>DataFrame</a:t>
          </a:r>
          <a:endParaRPr lang="en-US" sz="1600" kern="1200" dirty="0"/>
        </a:p>
      </dsp:txBody>
      <dsp:txXfrm>
        <a:off x="40031" y="1083552"/>
        <a:ext cx="1449665" cy="965320"/>
      </dsp:txXfrm>
    </dsp:sp>
    <dsp:sp modelId="{3BC1077B-33A3-4945-8215-2E64DB331FCD}">
      <dsp:nvSpPr>
        <dsp:cNvPr id="0" name=""/>
        <dsp:cNvSpPr/>
      </dsp:nvSpPr>
      <dsp:spPr>
        <a:xfrm>
          <a:off x="1644501" y="1411496"/>
          <a:ext cx="264515" cy="3094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dirty="0"/>
        </a:p>
      </dsp:txBody>
      <dsp:txXfrm>
        <a:off x="1644501" y="1473382"/>
        <a:ext cx="185161" cy="185660"/>
      </dsp:txXfrm>
    </dsp:sp>
    <dsp:sp modelId="{E49B67F6-E98E-4C4C-9D6E-CCB98C7CC76D}">
      <dsp:nvSpPr>
        <dsp:cNvPr id="0" name=""/>
        <dsp:cNvSpPr/>
      </dsp:nvSpPr>
      <dsp:spPr>
        <a:xfrm>
          <a:off x="2018815" y="1053519"/>
          <a:ext cx="1509731" cy="102538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fr-FR" sz="1600" kern="1200" dirty="0"/>
            <a:t>Check for </a:t>
          </a:r>
          <a:r>
            <a:rPr lang="fr-FR" sz="1600" kern="1200" dirty="0" err="1"/>
            <a:t>Missing</a:t>
          </a:r>
          <a:r>
            <a:rPr lang="fr-FR" sz="1600" kern="1200" dirty="0"/>
            <a:t> Values</a:t>
          </a:r>
          <a:endParaRPr lang="en-US" sz="1600" kern="1200" dirty="0"/>
        </a:p>
      </dsp:txBody>
      <dsp:txXfrm>
        <a:off x="2048848" y="1083552"/>
        <a:ext cx="1449665" cy="965320"/>
      </dsp:txXfrm>
    </dsp:sp>
    <dsp:sp modelId="{0B821D9B-8383-CF4F-8A2D-1BD6006DBCEC}">
      <dsp:nvSpPr>
        <dsp:cNvPr id="0" name=""/>
        <dsp:cNvSpPr/>
      </dsp:nvSpPr>
      <dsp:spPr>
        <a:xfrm>
          <a:off x="3653318" y="1411496"/>
          <a:ext cx="264515" cy="3094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dirty="0"/>
        </a:p>
      </dsp:txBody>
      <dsp:txXfrm>
        <a:off x="3653318" y="1473382"/>
        <a:ext cx="185161" cy="185660"/>
      </dsp:txXfrm>
    </dsp:sp>
    <dsp:sp modelId="{976663D9-2FAA-AE47-A41B-B2B7C113A7FA}">
      <dsp:nvSpPr>
        <dsp:cNvPr id="0" name=""/>
        <dsp:cNvSpPr/>
      </dsp:nvSpPr>
      <dsp:spPr>
        <a:xfrm>
          <a:off x="4027632" y="1053519"/>
          <a:ext cx="1509731" cy="102538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fr-FR" sz="1600" kern="1200" dirty="0" err="1"/>
            <a:t>Identify</a:t>
          </a:r>
          <a:r>
            <a:rPr lang="fr-FR" sz="1600" kern="1200" dirty="0"/>
            <a:t> Data Types</a:t>
          </a:r>
          <a:endParaRPr lang="en-US" sz="1600" kern="1200" dirty="0"/>
        </a:p>
      </dsp:txBody>
      <dsp:txXfrm>
        <a:off x="4057665" y="1083552"/>
        <a:ext cx="1449665" cy="965320"/>
      </dsp:txXfrm>
    </dsp:sp>
    <dsp:sp modelId="{5241A633-6CAF-324A-BF71-57F48308C790}">
      <dsp:nvSpPr>
        <dsp:cNvPr id="0" name=""/>
        <dsp:cNvSpPr/>
      </dsp:nvSpPr>
      <dsp:spPr>
        <a:xfrm>
          <a:off x="5662135" y="1411496"/>
          <a:ext cx="264515" cy="3094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dirty="0"/>
        </a:p>
      </dsp:txBody>
      <dsp:txXfrm>
        <a:off x="5662135" y="1473382"/>
        <a:ext cx="185161" cy="185660"/>
      </dsp:txXfrm>
    </dsp:sp>
    <dsp:sp modelId="{FC3E8542-AD84-234E-BBD0-C260CC7088D8}">
      <dsp:nvSpPr>
        <dsp:cNvPr id="0" name=""/>
        <dsp:cNvSpPr/>
      </dsp:nvSpPr>
      <dsp:spPr>
        <a:xfrm>
          <a:off x="6036448" y="1053519"/>
          <a:ext cx="1509731" cy="102538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fr-FR" sz="1600" kern="1200" dirty="0" err="1"/>
            <a:t>Analyze</a:t>
          </a:r>
          <a:r>
            <a:rPr lang="fr-FR" sz="1600" kern="1200" dirty="0"/>
            <a:t> Launch Sites, </a:t>
          </a:r>
          <a:r>
            <a:rPr lang="fr-FR" sz="1600" kern="1200" dirty="0" err="1"/>
            <a:t>Orbits</a:t>
          </a:r>
          <a:r>
            <a:rPr lang="fr-FR" sz="1600" kern="1200" dirty="0"/>
            <a:t>, </a:t>
          </a:r>
          <a:r>
            <a:rPr lang="fr-FR" sz="1600" kern="1200" dirty="0" err="1"/>
            <a:t>Outcomes</a:t>
          </a:r>
          <a:endParaRPr lang="en-US" sz="1600" kern="1200" dirty="0"/>
        </a:p>
      </dsp:txBody>
      <dsp:txXfrm>
        <a:off x="6066481" y="1083552"/>
        <a:ext cx="1449665" cy="965320"/>
      </dsp:txXfrm>
    </dsp:sp>
    <dsp:sp modelId="{F2EFE180-9539-6248-A862-4AA76F90A15B}">
      <dsp:nvSpPr>
        <dsp:cNvPr id="0" name=""/>
        <dsp:cNvSpPr/>
      </dsp:nvSpPr>
      <dsp:spPr>
        <a:xfrm>
          <a:off x="7670952" y="1411496"/>
          <a:ext cx="264515" cy="3094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dirty="0"/>
        </a:p>
      </dsp:txBody>
      <dsp:txXfrm>
        <a:off x="7670952" y="1473382"/>
        <a:ext cx="185161" cy="185660"/>
      </dsp:txXfrm>
    </dsp:sp>
    <dsp:sp modelId="{D64DDB53-CCEB-1647-BA56-81E117780445}">
      <dsp:nvSpPr>
        <dsp:cNvPr id="0" name=""/>
        <dsp:cNvSpPr/>
      </dsp:nvSpPr>
      <dsp:spPr>
        <a:xfrm>
          <a:off x="8045265" y="1053519"/>
          <a:ext cx="1509731" cy="102538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fr-FR" sz="1600" kern="1200" dirty="0" err="1"/>
            <a:t>reate</a:t>
          </a:r>
          <a:r>
            <a:rPr lang="fr-FR" sz="1600" kern="1200" dirty="0"/>
            <a:t> </a:t>
          </a:r>
          <a:r>
            <a:rPr lang="fr-FR" sz="1600" kern="1200" dirty="0" err="1"/>
            <a:t>Binary</a:t>
          </a:r>
          <a:r>
            <a:rPr lang="fr-FR" sz="1600" kern="1200" dirty="0"/>
            <a:t> Landing </a:t>
          </a:r>
          <a:r>
            <a:rPr lang="fr-FR" sz="1600" kern="1200" dirty="0" err="1"/>
            <a:t>Outcome</a:t>
          </a:r>
          <a:r>
            <a:rPr lang="fr-FR" sz="1600" kern="1200" dirty="0"/>
            <a:t> Label</a:t>
          </a:r>
          <a:endParaRPr lang="en-US" sz="1600" kern="1200" dirty="0"/>
        </a:p>
      </dsp:txBody>
      <dsp:txXfrm>
        <a:off x="8075298" y="1083552"/>
        <a:ext cx="1449665" cy="965320"/>
      </dsp:txXfrm>
    </dsp:sp>
    <dsp:sp modelId="{15810BDD-7474-6842-9F69-8EFD664CEF4E}">
      <dsp:nvSpPr>
        <dsp:cNvPr id="0" name=""/>
        <dsp:cNvSpPr/>
      </dsp:nvSpPr>
      <dsp:spPr>
        <a:xfrm>
          <a:off x="9679768" y="1411496"/>
          <a:ext cx="264515" cy="3094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dirty="0"/>
        </a:p>
      </dsp:txBody>
      <dsp:txXfrm>
        <a:off x="9679768" y="1473382"/>
        <a:ext cx="185161" cy="185660"/>
      </dsp:txXfrm>
    </dsp:sp>
    <dsp:sp modelId="{9FCE3AAC-2AF1-634A-A1E9-DC19F68AD4BE}">
      <dsp:nvSpPr>
        <dsp:cNvPr id="0" name=""/>
        <dsp:cNvSpPr/>
      </dsp:nvSpPr>
      <dsp:spPr>
        <a:xfrm>
          <a:off x="10054082" y="1053519"/>
          <a:ext cx="1509731" cy="102538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fr-FR" sz="1600" kern="1200" dirty="0"/>
            <a:t>Export </a:t>
          </a:r>
          <a:r>
            <a:rPr lang="fr-FR" sz="1600" kern="1200" dirty="0" err="1"/>
            <a:t>Cleaned</a:t>
          </a:r>
          <a:r>
            <a:rPr lang="fr-FR" sz="1600" kern="1200" dirty="0"/>
            <a:t> Data to CSV</a:t>
          </a:r>
          <a:endParaRPr lang="en-US" sz="1600" kern="1200" dirty="0"/>
        </a:p>
      </dsp:txBody>
      <dsp:txXfrm>
        <a:off x="10084115" y="1083552"/>
        <a:ext cx="1449665" cy="96532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9/14/25</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‹N°›</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9/14/25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‹N°›</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7</a:t>
            </a:fld>
            <a:endParaRPr lang="en-US"/>
          </a:p>
        </p:txBody>
      </p:sp>
    </p:spTree>
    <p:extLst>
      <p:ext uri="{BB962C8B-B14F-4D97-AF65-F5344CB8AC3E}">
        <p14:creationId xmlns:p14="http://schemas.microsoft.com/office/powerpoint/2010/main" val="4226275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F5415-F5DD-7546-21D3-483584547A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527168-9334-5C27-D2C8-032F27DADB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09A477-C567-50EF-FFA2-834457E9C66E}"/>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427B9B67-165D-60DD-E06B-0980582D39AA}"/>
              </a:ext>
            </a:extLst>
          </p:cNvPr>
          <p:cNvSpPr>
            <a:spLocks noGrp="1"/>
          </p:cNvSpPr>
          <p:nvPr>
            <p:ph type="sldNum" sz="quarter" idx="5"/>
          </p:nvPr>
        </p:nvSpPr>
        <p:spPr/>
        <p:txBody>
          <a:bodyPr/>
          <a:lstStyle/>
          <a:p>
            <a:fld id="{EEBDA0E2-FEBD-4B65-8F16-724CF984F377}" type="slidenum">
              <a:rPr lang="en-US" smtClean="0"/>
              <a:t>22</a:t>
            </a:fld>
            <a:endParaRPr lang="en-US"/>
          </a:p>
        </p:txBody>
      </p:sp>
    </p:spTree>
    <p:extLst>
      <p:ext uri="{BB962C8B-B14F-4D97-AF65-F5344CB8AC3E}">
        <p14:creationId xmlns:p14="http://schemas.microsoft.com/office/powerpoint/2010/main" val="2699534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23</a:t>
            </a:fld>
            <a:endParaRPr lang="en-US"/>
          </a:p>
        </p:txBody>
      </p:sp>
    </p:spTree>
    <p:extLst>
      <p:ext uri="{BB962C8B-B14F-4D97-AF65-F5344CB8AC3E}">
        <p14:creationId xmlns:p14="http://schemas.microsoft.com/office/powerpoint/2010/main" val="39249665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53</a:t>
            </a:fld>
            <a:endParaRPr lang="en-US"/>
          </a:p>
        </p:txBody>
      </p:sp>
    </p:spTree>
    <p:extLst>
      <p:ext uri="{BB962C8B-B14F-4D97-AF65-F5344CB8AC3E}">
        <p14:creationId xmlns:p14="http://schemas.microsoft.com/office/powerpoint/2010/main" val="998503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9/14/25</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9/14/25</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9/14/25</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9/14/25</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9/14/25</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9/14/25</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9/14/25</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9/14/25</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9/14/25</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9/14/25</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85729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a:prstGeom prst="rect">
            <a:avLst/>
          </a:prstGeo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t>Click to edit Master title style</a:t>
            </a:r>
          </a:p>
        </p:txBody>
      </p:sp>
      <p:sp>
        <p:nvSpPr>
          <p:cNvPr id="2" name="Footer Placeholder 1">
            <a:extLst>
              <a:ext uri="{FF2B5EF4-FFF2-40B4-BE49-F238E27FC236}">
                <a16:creationId xmlns:a16="http://schemas.microsoft.com/office/drawing/2014/main" id="{FD30FDD2-E0CC-3E4C-A49E-91BE8BE0367F}"/>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038078290"/>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A119083-F06C-6F4F-9852-321B8C953CC2}"/>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976210309"/>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‹N°›</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hyperlink" Target="https://github.com/MamadyMagass/Applied-Data-Science-Capstone-IBM/blob/main/week_1/jupyter-labs-spacex-data-collection-api.ipynb" TargetMode="Externa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hyperlink" Target="https://github.com/MamadyMagass/Applied-Data-Science-Capstone-IBM/blob/main/week_1/jupyter-labs-webscraping.ipynb" TargetMode="External"/><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hyperlink" Target="https://github.com/MamadyMagass/Applied-Data-Science-Capstone-IBM/blob/main/week_1/labs-jupyter-spacex-Data%20wrangling.ipynb" TargetMode="External"/><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MamadyMagass/Applied-Data-Science-Capstone-IBM/blob/main/week_2/jupyter-labs-eda-dataviz-v2.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C36AF9D-A911-994B-90EA-013D4CDA5604}"/>
              </a:ext>
            </a:extLst>
          </p:cNvPr>
          <p:cNvSpPr txBox="1"/>
          <p:nvPr/>
        </p:nvSpPr>
        <p:spPr>
          <a:xfrm>
            <a:off x="888546" y="4568734"/>
            <a:ext cx="2514600" cy="646331"/>
          </a:xfrm>
          <a:prstGeom prst="rect">
            <a:avLst/>
          </a:prstGeom>
          <a:noFill/>
        </p:spPr>
        <p:txBody>
          <a:bodyPr wrap="square" lIns="91440" tIns="45720" rIns="91440" bIns="45720" rtlCol="0" anchor="t">
            <a:spAutoFit/>
          </a:bodyPr>
          <a:lstStyle/>
          <a:p>
            <a:r>
              <a:rPr lang="en-US" dirty="0">
                <a:solidFill>
                  <a:schemeClr val="bg2"/>
                </a:solidFill>
                <a:latin typeface="Abadi"/>
                <a:ea typeface="SF Pro" pitchFamily="2" charset="0"/>
                <a:cs typeface="SF Pro" pitchFamily="2" charset="0"/>
              </a:rPr>
              <a:t>&lt;Name&gt;</a:t>
            </a:r>
          </a:p>
          <a:p>
            <a:r>
              <a:rPr lang="en-US" dirty="0">
                <a:solidFill>
                  <a:schemeClr val="bg2"/>
                </a:solidFill>
                <a:latin typeface="Abadi" panose="020B0604020104020204" pitchFamily="34" charset="0"/>
                <a:ea typeface="SF Pro" pitchFamily="2" charset="0"/>
                <a:cs typeface="SF Pro" pitchFamily="2" charset="0"/>
              </a:rPr>
              <a:t>&lt;Date&gt;</a:t>
            </a:r>
          </a:p>
        </p:txBody>
      </p:sp>
      <p:pic>
        <p:nvPicPr>
          <p:cNvPr id="2" name="Picture 2" descr="IBM Skills Network Logo - Horizontal-noai copy.png">
            <a:extLst>
              <a:ext uri="{FF2B5EF4-FFF2-40B4-BE49-F238E27FC236}">
                <a16:creationId xmlns:a16="http://schemas.microsoft.com/office/drawing/2014/main" id="{4F94DBE5-2DCC-401E-95AA-12E04A97FBA6}"/>
              </a:ext>
            </a:extLst>
          </p:cNvPr>
          <p:cNvPicPr>
            <a:picLocks noChangeAspect="1"/>
          </p:cNvPicPr>
          <p:nvPr/>
        </p:nvPicPr>
        <p:blipFill>
          <a:blip r:embed="rId3"/>
          <a:stretch>
            <a:fillRect/>
          </a:stretch>
        </p:blipFill>
        <p:spPr>
          <a:xfrm>
            <a:off x="889820" y="676828"/>
            <a:ext cx="2104103" cy="629183"/>
          </a:xfrm>
          <a:prstGeom prst="rect">
            <a:avLst/>
          </a:prstGeom>
        </p:spPr>
      </p:pic>
    </p:spTree>
    <p:extLst>
      <p:ext uri="{BB962C8B-B14F-4D97-AF65-F5344CB8AC3E}">
        <p14:creationId xmlns:p14="http://schemas.microsoft.com/office/powerpoint/2010/main" val="127761162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5167086" cy="3320824"/>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Executive Summary</a:t>
            </a:r>
          </a:p>
          <a:p>
            <a:pPr>
              <a:lnSpc>
                <a:spcPct val="100000"/>
              </a:lnSpc>
              <a:spcBef>
                <a:spcPts val="1400"/>
              </a:spcBef>
            </a:pPr>
            <a:r>
              <a:rPr lang="en-US" sz="2200" dirty="0">
                <a:solidFill>
                  <a:schemeClr val="accent3">
                    <a:lumMod val="25000"/>
                  </a:schemeClr>
                </a:solidFill>
                <a:latin typeface="Abadi"/>
              </a:rPr>
              <a:t>Introduction</a:t>
            </a:r>
          </a:p>
          <a:p>
            <a:pPr>
              <a:lnSpc>
                <a:spcPct val="100000"/>
              </a:lnSpc>
              <a:spcBef>
                <a:spcPts val="1400"/>
              </a:spcBef>
            </a:pPr>
            <a:r>
              <a:rPr lang="en-US" sz="2200" dirty="0">
                <a:solidFill>
                  <a:schemeClr val="accent3">
                    <a:lumMod val="25000"/>
                  </a:schemeClr>
                </a:solidFill>
                <a:latin typeface="Abadi"/>
              </a:rPr>
              <a:t>Methodology</a:t>
            </a:r>
          </a:p>
          <a:p>
            <a:pPr>
              <a:lnSpc>
                <a:spcPct val="100000"/>
              </a:lnSpc>
              <a:spcBef>
                <a:spcPts val="1400"/>
              </a:spcBef>
            </a:pPr>
            <a:r>
              <a:rPr lang="en-US" sz="2200" dirty="0">
                <a:solidFill>
                  <a:schemeClr val="accent3">
                    <a:lumMod val="25000"/>
                  </a:schemeClr>
                </a:solidFill>
                <a:latin typeface="Abadi"/>
              </a:rPr>
              <a:t>Results</a:t>
            </a:r>
          </a:p>
          <a:p>
            <a:pPr>
              <a:lnSpc>
                <a:spcPct val="100000"/>
              </a:lnSpc>
              <a:spcBef>
                <a:spcPts val="1400"/>
              </a:spcBef>
            </a:pPr>
            <a:r>
              <a:rPr lang="en-US" sz="2200" dirty="0">
                <a:solidFill>
                  <a:schemeClr val="accent3">
                    <a:lumMod val="25000"/>
                  </a:schemeClr>
                </a:solidFill>
                <a:latin typeface="Abadi"/>
              </a:rPr>
              <a:t>Conclusion</a:t>
            </a:r>
          </a:p>
          <a:p>
            <a:pPr>
              <a:lnSpc>
                <a:spcPct val="100000"/>
              </a:lnSpc>
              <a:spcBef>
                <a:spcPts val="1400"/>
              </a:spcBef>
            </a:pPr>
            <a:r>
              <a:rPr lang="en-US" sz="22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Outline</a:t>
            </a: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770011" y="1593592"/>
            <a:ext cx="8421071" cy="2417970"/>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00000"/>
              </a:lnSpc>
              <a:spcBef>
                <a:spcPts val="1400"/>
              </a:spcBef>
              <a:buNone/>
              <a:defRPr/>
            </a:pPr>
            <a:r>
              <a:rPr lang="en-US" sz="2200" dirty="0">
                <a:solidFill>
                  <a:schemeClr val="accent3">
                    <a:lumMod val="25000"/>
                  </a:schemeClr>
                </a:solidFill>
                <a:latin typeface="Abadi" panose="020B0604020104020204" pitchFamily="34" charset="0"/>
              </a:rPr>
              <a:t>This project analyzes SpaceX Falcon 9 and Falcon Heavy launch records to uncover insights into launch outcomes, site selection, and payload success. Using data collection, web scraping, exploratory data analysis, SQL, geospatial visualization, and machine learning, we identify key factors influencing launch success and provide recommendations for future launches.</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Executive Summary</a:t>
            </a:r>
            <a:endParaRPr lang="en-US" dirty="0">
              <a:solidFill>
                <a:srgbClr val="0B49CB"/>
              </a:solidFill>
            </a:endParaRPr>
          </a:p>
        </p:txBody>
      </p:sp>
    </p:spTree>
    <p:extLst>
      <p:ext uri="{BB962C8B-B14F-4D97-AF65-F5344CB8AC3E}">
        <p14:creationId xmlns:p14="http://schemas.microsoft.com/office/powerpoint/2010/main" val="1980221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CF6A9DE5-45F0-E545-179B-C37477B169F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D5C38D-667C-9BCA-B970-0532C51ADEF4}"/>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4</a:t>
            </a:fld>
            <a:endParaRPr lang="en-US" dirty="0"/>
          </a:p>
        </p:txBody>
      </p:sp>
      <p:sp>
        <p:nvSpPr>
          <p:cNvPr id="10" name="Content Placeholder 2">
            <a:extLst>
              <a:ext uri="{FF2B5EF4-FFF2-40B4-BE49-F238E27FC236}">
                <a16:creationId xmlns:a16="http://schemas.microsoft.com/office/drawing/2014/main" id="{AEA6CB01-F646-0FA3-68AC-6825DF760A07}"/>
              </a:ext>
            </a:extLst>
          </p:cNvPr>
          <p:cNvSpPr txBox="1">
            <a:spLocks/>
          </p:cNvSpPr>
          <p:nvPr/>
        </p:nvSpPr>
        <p:spPr>
          <a:xfrm>
            <a:off x="929407" y="1565285"/>
            <a:ext cx="4822464" cy="4460288"/>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00000"/>
              </a:lnSpc>
              <a:spcBef>
                <a:spcPts val="1400"/>
              </a:spcBef>
              <a:buNone/>
            </a:pPr>
            <a:r>
              <a:rPr lang="en-US" sz="1600" b="1" dirty="0">
                <a:solidFill>
                  <a:schemeClr val="accent3">
                    <a:lumMod val="25000"/>
                  </a:schemeClr>
                </a:solidFill>
                <a:latin typeface="Abadi" panose="020B0604020104020204" pitchFamily="34" charset="0"/>
              </a:rPr>
              <a:t>Summary of methodologies</a:t>
            </a:r>
            <a:br>
              <a:rPr lang="en-US" sz="1600" dirty="0">
                <a:solidFill>
                  <a:schemeClr val="accent3">
                    <a:lumMod val="25000"/>
                  </a:schemeClr>
                </a:solidFill>
                <a:latin typeface="Abadi" panose="020B0604020104020204" pitchFamily="34" charset="0"/>
              </a:rPr>
            </a:br>
            <a:br>
              <a:rPr lang="en-US" sz="1600" dirty="0">
                <a:solidFill>
                  <a:schemeClr val="accent3">
                    <a:lumMod val="25000"/>
                  </a:schemeClr>
                </a:solidFill>
                <a:latin typeface="Abadi" panose="020B0604020104020204" pitchFamily="34" charset="0"/>
              </a:rPr>
            </a:br>
            <a:r>
              <a:rPr lang="en-US" sz="1600" dirty="0">
                <a:solidFill>
                  <a:schemeClr val="accent3">
                    <a:lumMod val="25000"/>
                  </a:schemeClr>
                </a:solidFill>
                <a:latin typeface="Abadi" panose="020B0604020104020204" pitchFamily="34" charset="0"/>
              </a:rPr>
              <a:t>Data was collected from the SpaceX API and Wikipedia using Python scripts and web scraping.</a:t>
            </a:r>
          </a:p>
          <a:p>
            <a:pPr>
              <a:lnSpc>
                <a:spcPct val="100000"/>
              </a:lnSpc>
              <a:spcBef>
                <a:spcPts val="1400"/>
              </a:spcBef>
            </a:pPr>
            <a:r>
              <a:rPr lang="en-US" sz="1600" dirty="0">
                <a:solidFill>
                  <a:schemeClr val="accent3">
                    <a:lumMod val="25000"/>
                  </a:schemeClr>
                </a:solidFill>
                <a:latin typeface="Abadi" panose="020B0604020104020204" pitchFamily="34" charset="0"/>
              </a:rPr>
              <a:t>Data wrangling and cleaning were performed to handle missing values and unify formats.</a:t>
            </a:r>
          </a:p>
          <a:p>
            <a:pPr>
              <a:lnSpc>
                <a:spcPct val="100000"/>
              </a:lnSpc>
              <a:spcBef>
                <a:spcPts val="1400"/>
              </a:spcBef>
            </a:pPr>
            <a:r>
              <a:rPr lang="en-US" sz="1600" dirty="0">
                <a:solidFill>
                  <a:schemeClr val="accent3">
                    <a:lumMod val="25000"/>
                  </a:schemeClr>
                </a:solidFill>
                <a:latin typeface="Abadi" panose="020B0604020104020204" pitchFamily="34" charset="0"/>
              </a:rPr>
              <a:t>EDA was conducted using Pandas, SQL, and visualization libraries.</a:t>
            </a:r>
          </a:p>
          <a:p>
            <a:pPr>
              <a:lnSpc>
                <a:spcPct val="100000"/>
              </a:lnSpc>
              <a:spcBef>
                <a:spcPts val="1400"/>
              </a:spcBef>
            </a:pPr>
            <a:r>
              <a:rPr lang="en-US" sz="1600" dirty="0">
                <a:solidFill>
                  <a:schemeClr val="accent3">
                    <a:lumMod val="25000"/>
                  </a:schemeClr>
                </a:solidFill>
                <a:latin typeface="Abadi" panose="020B0604020104020204" pitchFamily="34" charset="0"/>
              </a:rPr>
              <a:t>Interactive analytics were developed with Folium (for maps) and </a:t>
            </a:r>
            <a:r>
              <a:rPr lang="en-US" sz="1600" dirty="0" err="1">
                <a:solidFill>
                  <a:schemeClr val="accent3">
                    <a:lumMod val="25000"/>
                  </a:schemeClr>
                </a:solidFill>
                <a:latin typeface="Abadi" panose="020B0604020104020204" pitchFamily="34" charset="0"/>
              </a:rPr>
              <a:t>Plotly</a:t>
            </a:r>
            <a:r>
              <a:rPr lang="en-US" sz="1600" dirty="0">
                <a:solidFill>
                  <a:schemeClr val="accent3">
                    <a:lumMod val="25000"/>
                  </a:schemeClr>
                </a:solidFill>
                <a:latin typeface="Abadi" panose="020B0604020104020204" pitchFamily="34" charset="0"/>
              </a:rPr>
              <a:t> Dash (for dashboards).</a:t>
            </a:r>
          </a:p>
          <a:p>
            <a:pPr>
              <a:lnSpc>
                <a:spcPct val="100000"/>
              </a:lnSpc>
              <a:spcBef>
                <a:spcPts val="1400"/>
              </a:spcBef>
            </a:pPr>
            <a:r>
              <a:rPr lang="en-US" sz="1600" dirty="0">
                <a:solidFill>
                  <a:schemeClr val="accent3">
                    <a:lumMod val="25000"/>
                  </a:schemeClr>
                </a:solidFill>
                <a:latin typeface="Abadi" panose="020B0604020104020204" pitchFamily="34" charset="0"/>
              </a:rPr>
              <a:t>Predictive models (Logistic Regression, SVM, Decision Trees, KNN) were built, tuned, and evaluated.</a:t>
            </a:r>
          </a:p>
          <a:p>
            <a:pPr>
              <a:lnSpc>
                <a:spcPct val="100000"/>
              </a:lnSpc>
              <a:spcBef>
                <a:spcPts val="1400"/>
              </a:spcBef>
            </a:pPr>
            <a:endParaRPr lang="en-US" sz="1600" dirty="0">
              <a:solidFill>
                <a:schemeClr val="accent3">
                  <a:lumMod val="25000"/>
                </a:schemeClr>
              </a:solidFill>
              <a:latin typeface="Abadi" panose="020B0604020104020204" pitchFamily="34" charset="0"/>
            </a:endParaRPr>
          </a:p>
        </p:txBody>
      </p:sp>
      <p:sp>
        <p:nvSpPr>
          <p:cNvPr id="19" name="Title 1">
            <a:extLst>
              <a:ext uri="{FF2B5EF4-FFF2-40B4-BE49-F238E27FC236}">
                <a16:creationId xmlns:a16="http://schemas.microsoft.com/office/drawing/2014/main" id="{5C6F5557-B000-4C9C-A74E-218946BA80D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Executive Summary</a:t>
            </a:r>
            <a:endParaRPr lang="en-US" dirty="0">
              <a:solidFill>
                <a:srgbClr val="0B49CB"/>
              </a:solidFill>
            </a:endParaRPr>
          </a:p>
        </p:txBody>
      </p:sp>
      <p:sp>
        <p:nvSpPr>
          <p:cNvPr id="2" name="Content Placeholder 2">
            <a:extLst>
              <a:ext uri="{FF2B5EF4-FFF2-40B4-BE49-F238E27FC236}">
                <a16:creationId xmlns:a16="http://schemas.microsoft.com/office/drawing/2014/main" id="{38B5152A-B892-20AF-12FC-DE13ABF534A9}"/>
              </a:ext>
            </a:extLst>
          </p:cNvPr>
          <p:cNvSpPr txBox="1">
            <a:spLocks/>
          </p:cNvSpPr>
          <p:nvPr/>
        </p:nvSpPr>
        <p:spPr>
          <a:xfrm>
            <a:off x="6215966" y="1565285"/>
            <a:ext cx="4822464" cy="4053850"/>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00000"/>
              </a:lnSpc>
              <a:spcBef>
                <a:spcPts val="1400"/>
              </a:spcBef>
              <a:buNone/>
            </a:pPr>
            <a:r>
              <a:rPr lang="en-US" sz="1600" b="1" dirty="0">
                <a:solidFill>
                  <a:schemeClr val="accent3">
                    <a:lumMod val="25000"/>
                  </a:schemeClr>
                </a:solidFill>
                <a:latin typeface="Abadi" panose="020B0604020104020204" pitchFamily="34" charset="0"/>
              </a:rPr>
              <a:t>Summary of all results</a:t>
            </a:r>
            <a:br>
              <a:rPr lang="en-US" sz="1600" dirty="0">
                <a:solidFill>
                  <a:schemeClr val="accent3">
                    <a:lumMod val="25000"/>
                  </a:schemeClr>
                </a:solidFill>
                <a:latin typeface="Abadi" panose="020B0604020104020204" pitchFamily="34" charset="0"/>
              </a:rPr>
            </a:br>
            <a:br>
              <a:rPr lang="en-US" sz="1600" dirty="0">
                <a:solidFill>
                  <a:schemeClr val="accent3">
                    <a:lumMod val="25000"/>
                  </a:schemeClr>
                </a:solidFill>
                <a:latin typeface="Abadi" panose="020B0604020104020204" pitchFamily="34" charset="0"/>
              </a:rPr>
            </a:br>
            <a:r>
              <a:rPr lang="en-US" sz="1600" dirty="0">
                <a:solidFill>
                  <a:schemeClr val="accent3">
                    <a:lumMod val="25000"/>
                  </a:schemeClr>
                </a:solidFill>
                <a:latin typeface="Abadi" panose="020B0604020104020204" pitchFamily="34" charset="0"/>
              </a:rPr>
              <a:t>Identified key features (payload mass, launch site, booster version) affecting landing success.</a:t>
            </a:r>
          </a:p>
          <a:p>
            <a:pPr>
              <a:lnSpc>
                <a:spcPct val="100000"/>
              </a:lnSpc>
              <a:spcBef>
                <a:spcPts val="1400"/>
              </a:spcBef>
            </a:pPr>
            <a:r>
              <a:rPr lang="en-US" sz="1600" dirty="0">
                <a:solidFill>
                  <a:schemeClr val="accent3">
                    <a:lumMod val="25000"/>
                  </a:schemeClr>
                </a:solidFill>
                <a:latin typeface="Abadi" panose="020B0604020104020204" pitchFamily="34" charset="0"/>
              </a:rPr>
              <a:t>Created interactive dashboards and maps for visual analytics.</a:t>
            </a:r>
          </a:p>
          <a:p>
            <a:pPr>
              <a:lnSpc>
                <a:spcPct val="100000"/>
              </a:lnSpc>
              <a:spcBef>
                <a:spcPts val="1400"/>
              </a:spcBef>
            </a:pPr>
            <a:r>
              <a:rPr lang="en-US" sz="1600" dirty="0">
                <a:solidFill>
                  <a:schemeClr val="accent3">
                    <a:lumMod val="25000"/>
                  </a:schemeClr>
                </a:solidFill>
                <a:latin typeface="Abadi" panose="020B0604020104020204" pitchFamily="34" charset="0"/>
              </a:rPr>
              <a:t>Achieved over 80% accuracy in predicting landing outcomes using tuned classification models.</a:t>
            </a:r>
          </a:p>
          <a:p>
            <a:pPr>
              <a:lnSpc>
                <a:spcPct val="100000"/>
              </a:lnSpc>
              <a:spcBef>
                <a:spcPts val="1400"/>
              </a:spcBef>
            </a:pPr>
            <a:endParaRPr lang="en-US" sz="1600" dirty="0">
              <a:solidFill>
                <a:schemeClr val="accent3">
                  <a:lumMod val="25000"/>
                </a:schemeClr>
              </a:solidFill>
              <a:latin typeface="Abadi" panose="020B0604020104020204" pitchFamily="34" charset="0"/>
            </a:endParaRPr>
          </a:p>
        </p:txBody>
      </p:sp>
    </p:spTree>
    <p:extLst>
      <p:ext uri="{BB962C8B-B14F-4D97-AF65-F5344CB8AC3E}">
        <p14:creationId xmlns:p14="http://schemas.microsoft.com/office/powerpoint/2010/main" val="1297918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5</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Introduction</a:t>
            </a:r>
            <a:endParaRPr lang="en-US" dirty="0">
              <a:solidFill>
                <a:srgbClr val="0B49CB"/>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604736" y="1572191"/>
            <a:ext cx="5660840" cy="38847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1400"/>
              </a:spcBef>
            </a:pPr>
            <a:r>
              <a:rPr lang="en-US" sz="2200" b="1" dirty="0">
                <a:solidFill>
                  <a:schemeClr val="accent3">
                    <a:lumMod val="25000"/>
                  </a:schemeClr>
                </a:solidFill>
                <a:latin typeface="Abadi" panose="020B0604020104020204" pitchFamily="34" charset="0"/>
              </a:rPr>
              <a:t>Project background and context</a:t>
            </a:r>
            <a:br>
              <a:rPr lang="en-US" sz="2200" b="1" dirty="0">
                <a:solidFill>
                  <a:schemeClr val="accent3">
                    <a:lumMod val="25000"/>
                  </a:schemeClr>
                </a:solidFill>
                <a:latin typeface="Abadi" panose="020B0604020104020204" pitchFamily="34" charset="0"/>
              </a:rPr>
            </a:br>
            <a:br>
              <a:rPr lang="en-US" sz="2200" dirty="0">
                <a:solidFill>
                  <a:schemeClr val="accent3">
                    <a:lumMod val="25000"/>
                  </a:schemeClr>
                </a:solidFill>
                <a:latin typeface="Abadi" panose="020B0604020104020204" pitchFamily="34" charset="0"/>
              </a:rPr>
            </a:br>
            <a:r>
              <a:rPr lang="en-US" sz="2200" dirty="0">
                <a:solidFill>
                  <a:schemeClr val="accent3">
                    <a:lumMod val="25000"/>
                  </a:schemeClr>
                </a:solidFill>
                <a:latin typeface="Abadi" panose="020B0604020104020204" pitchFamily="34" charset="0"/>
              </a:rPr>
              <a:t>SpaceX’s reusable rocket program has revolutionized spaceflight economics. Predicting the success of Falcon 9 first stage landings is crucial for cost savings and mission planning. This project aims to analyze historical launch data to uncover patterns and build predictive models for landing outcomes.</a:t>
            </a:r>
          </a:p>
        </p:txBody>
      </p:sp>
      <p:sp>
        <p:nvSpPr>
          <p:cNvPr id="2" name="Content Placeholder 2">
            <a:extLst>
              <a:ext uri="{FF2B5EF4-FFF2-40B4-BE49-F238E27FC236}">
                <a16:creationId xmlns:a16="http://schemas.microsoft.com/office/drawing/2014/main" id="{B9EBE123-3276-7D7C-4B61-8E3031432F13}"/>
              </a:ext>
            </a:extLst>
          </p:cNvPr>
          <p:cNvSpPr txBox="1">
            <a:spLocks/>
          </p:cNvSpPr>
          <p:nvPr/>
        </p:nvSpPr>
        <p:spPr>
          <a:xfrm>
            <a:off x="6093125" y="1572190"/>
            <a:ext cx="5660840" cy="35625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1400"/>
              </a:spcBef>
            </a:pPr>
            <a:r>
              <a:rPr lang="en-US" sz="2200" dirty="0">
                <a:solidFill>
                  <a:schemeClr val="accent3">
                    <a:lumMod val="25000"/>
                  </a:schemeClr>
                </a:solidFill>
                <a:latin typeface="Abadi" panose="020B0604020104020204" pitchFamily="34" charset="0"/>
              </a:rPr>
              <a:t>Problems you want to find answers</a:t>
            </a:r>
            <a:br>
              <a:rPr lang="en-US" sz="2200" dirty="0">
                <a:solidFill>
                  <a:schemeClr val="accent3">
                    <a:lumMod val="25000"/>
                  </a:schemeClr>
                </a:solidFill>
                <a:latin typeface="Abadi" panose="020B0604020104020204" pitchFamily="34" charset="0"/>
              </a:rPr>
            </a:br>
            <a:br>
              <a:rPr lang="en-US" sz="2200" dirty="0">
                <a:solidFill>
                  <a:schemeClr val="accent3">
                    <a:lumMod val="25000"/>
                  </a:schemeClr>
                </a:solidFill>
                <a:latin typeface="Abadi" panose="020B0604020104020204" pitchFamily="34" charset="0"/>
              </a:rPr>
            </a:br>
            <a:r>
              <a:rPr lang="en-US" sz="2200" dirty="0">
                <a:solidFill>
                  <a:schemeClr val="accent3">
                    <a:lumMod val="25000"/>
                  </a:schemeClr>
                </a:solidFill>
                <a:latin typeface="Abadi" panose="020B0604020104020204" pitchFamily="34" charset="0"/>
              </a:rPr>
              <a:t>What factors most influence the success or failure of Falcon 9 landings?</a:t>
            </a:r>
          </a:p>
          <a:p>
            <a:pPr>
              <a:spcBef>
                <a:spcPts val="1400"/>
              </a:spcBef>
            </a:pPr>
            <a:r>
              <a:rPr lang="en-US" sz="2200" dirty="0">
                <a:solidFill>
                  <a:schemeClr val="accent3">
                    <a:lumMod val="25000"/>
                  </a:schemeClr>
                </a:solidFill>
                <a:latin typeface="Abadi" panose="020B0604020104020204" pitchFamily="34" charset="0"/>
              </a:rPr>
              <a:t>Can we predict the outcome of a launch based on available features?</a:t>
            </a:r>
          </a:p>
          <a:p>
            <a:pPr>
              <a:spcBef>
                <a:spcPts val="1400"/>
              </a:spcBef>
            </a:pPr>
            <a:r>
              <a:rPr lang="en-US" sz="2200" dirty="0">
                <a:solidFill>
                  <a:schemeClr val="accent3">
                    <a:lumMod val="25000"/>
                  </a:schemeClr>
                </a:solidFill>
                <a:latin typeface="Abadi" panose="020B0604020104020204" pitchFamily="34" charset="0"/>
              </a:rPr>
              <a:t>How can interactive analytics and geospatial visualization help stakeholders understand launch patterns?</a:t>
            </a:r>
          </a:p>
          <a:p>
            <a:pPr>
              <a:spcBef>
                <a:spcPts val="1400"/>
              </a:spcBef>
            </a:pPr>
            <a:endParaRPr lang="en-US" sz="2200" dirty="0">
              <a:solidFill>
                <a:schemeClr val="accent3">
                  <a:lumMod val="25000"/>
                </a:schemeClr>
              </a:solidFill>
              <a:latin typeface="Abadi" panose="020B0604020104020204" pitchFamily="34" charset="0"/>
            </a:endParaRPr>
          </a:p>
        </p:txBody>
      </p:sp>
    </p:spTree>
    <p:extLst>
      <p:ext uri="{BB962C8B-B14F-4D97-AF65-F5344CB8AC3E}">
        <p14:creationId xmlns:p14="http://schemas.microsoft.com/office/powerpoint/2010/main" val="2560061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1BF29A-91D2-784B-9589-F5A3883168D5}"/>
              </a:ext>
            </a:extLst>
          </p:cNvPr>
          <p:cNvSpPr>
            <a:spLocks noGrp="1"/>
          </p:cNvSpPr>
          <p:nvPr>
            <p:ph type="sldNum" sz="quarter" idx="12"/>
          </p:nvPr>
        </p:nvSpPr>
        <p:spPr>
          <a:xfrm>
            <a:off x="9448800" y="6356350"/>
            <a:ext cx="2743200" cy="365125"/>
          </a:xfrm>
        </p:spPr>
        <p:txBody>
          <a:bodyPr/>
          <a:lstStyle/>
          <a:p>
            <a:fld id="{5075537C-CA84-1446-933C-8E9D027F9201}" type="slidenum">
              <a:rPr lang="en-US" smtClean="0"/>
              <a:t>6</a:t>
            </a:fld>
            <a:endParaRPr lang="en-US" dirty="0"/>
          </a:p>
        </p:txBody>
      </p:sp>
      <p:sp>
        <p:nvSpPr>
          <p:cNvPr id="2" name="TextBox 1">
            <a:extLst>
              <a:ext uri="{FF2B5EF4-FFF2-40B4-BE49-F238E27FC236}">
                <a16:creationId xmlns:a16="http://schemas.microsoft.com/office/drawing/2014/main" id="{99393D11-6810-B94E-A01A-A2D00E82E738}"/>
              </a:ext>
            </a:extLst>
          </p:cNvPr>
          <p:cNvSpPr txBox="1"/>
          <p:nvPr/>
        </p:nvSpPr>
        <p:spPr>
          <a:xfrm>
            <a:off x="765313" y="2812774"/>
            <a:ext cx="1058303" cy="369332"/>
          </a:xfrm>
          <a:prstGeom prst="rect">
            <a:avLst/>
          </a:prstGeom>
          <a:solidFill>
            <a:srgbClr val="0948CB"/>
          </a:solidFill>
        </p:spPr>
        <p:txBody>
          <a:bodyPr wrap="none" rtlCol="0">
            <a:spAutoFit/>
          </a:bodyPr>
          <a:lstStyle/>
          <a:p>
            <a:r>
              <a:rPr lang="en-US" dirty="0">
                <a:solidFill>
                  <a:schemeClr val="bg1"/>
                </a:solidFill>
              </a:rPr>
              <a:t>Section 1</a:t>
            </a:r>
          </a:p>
        </p:txBody>
      </p:sp>
    </p:spTree>
    <p:extLst>
      <p:ext uri="{BB962C8B-B14F-4D97-AF65-F5344CB8AC3E}">
        <p14:creationId xmlns:p14="http://schemas.microsoft.com/office/powerpoint/2010/main" val="3093198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92CF01-5F8F-9D43-96B9-A581954BA94A}"/>
              </a:ext>
            </a:extLst>
          </p:cNvPr>
          <p:cNvSpPr>
            <a:spLocks noGrp="1"/>
          </p:cNvSpPr>
          <p:nvPr>
            <p:ph type="sldNum" sz="quarter" idx="12"/>
          </p:nvPr>
        </p:nvSpPr>
        <p:spPr/>
        <p:txBody>
          <a:bodyPr/>
          <a:lstStyle/>
          <a:p>
            <a:fld id="{5075537C-CA84-1446-933C-8E9D027F9201}" type="slidenum">
              <a:rPr lang="en-US" smtClean="0"/>
              <a:t>7</a:t>
            </a:fld>
            <a:endParaRPr lang="en-US" dirty="0"/>
          </a:p>
        </p:txBody>
      </p:sp>
      <p:sp>
        <p:nvSpPr>
          <p:cNvPr id="7" name="Content Placeholder 2">
            <a:extLst>
              <a:ext uri="{FF2B5EF4-FFF2-40B4-BE49-F238E27FC236}">
                <a16:creationId xmlns:a16="http://schemas.microsoft.com/office/drawing/2014/main" id="{0BFEC426-B615-E549-83E5-140FD588BC64}"/>
              </a:ext>
            </a:extLst>
          </p:cNvPr>
          <p:cNvSpPr txBox="1">
            <a:spLocks/>
          </p:cNvSpPr>
          <p:nvPr/>
        </p:nvSpPr>
        <p:spPr>
          <a:xfrm>
            <a:off x="770012" y="1580810"/>
            <a:ext cx="5513558" cy="3306546"/>
          </a:xfrm>
          <a:prstGeom prst="rect">
            <a:avLst/>
          </a:prstGeom>
        </p:spPr>
        <p:txBody>
          <a:bodyPr lIns="91440" tIns="45720" rIns="91440" bIns="45720" anchor="t">
            <a:normAutofit fontScale="70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20000"/>
              </a:lnSpc>
              <a:spcBef>
                <a:spcPts val="1400"/>
              </a:spcBef>
              <a:buNone/>
            </a:pPr>
            <a:r>
              <a:rPr lang="en-US" dirty="0">
                <a:solidFill>
                  <a:srgbClr val="0B49CB"/>
                </a:solidFill>
                <a:latin typeface="Abadi"/>
              </a:rPr>
              <a:t>Executive Summary</a:t>
            </a:r>
          </a:p>
          <a:p>
            <a:pPr>
              <a:lnSpc>
                <a:spcPct val="120000"/>
              </a:lnSpc>
              <a:spcBef>
                <a:spcPts val="1400"/>
              </a:spcBef>
            </a:pPr>
            <a:r>
              <a:rPr lang="en-US" dirty="0">
                <a:solidFill>
                  <a:schemeClr val="accent3">
                    <a:lumMod val="25000"/>
                  </a:schemeClr>
                </a:solidFill>
                <a:latin typeface="Abadi"/>
              </a:rPr>
              <a:t>Data collection methodology:</a:t>
            </a:r>
          </a:p>
          <a:p>
            <a:pPr lvl="1">
              <a:lnSpc>
                <a:spcPct val="120000"/>
              </a:lnSpc>
              <a:spcBef>
                <a:spcPts val="1400"/>
              </a:spcBef>
            </a:pPr>
            <a:r>
              <a:rPr lang="en-US" dirty="0">
                <a:solidFill>
                  <a:schemeClr val="accent3">
                    <a:lumMod val="25000"/>
                  </a:schemeClr>
                </a:solidFill>
                <a:latin typeface="Abadi"/>
              </a:rPr>
              <a:t>API Data: Used Python’s requests library to collect launch data from the SpaceX API, including rocket, payload, launchpad, and core details.</a:t>
            </a:r>
          </a:p>
          <a:p>
            <a:pPr lvl="1">
              <a:lnSpc>
                <a:spcPct val="120000"/>
              </a:lnSpc>
              <a:spcBef>
                <a:spcPts val="1400"/>
              </a:spcBef>
            </a:pPr>
            <a:r>
              <a:rPr lang="en-US" dirty="0">
                <a:solidFill>
                  <a:schemeClr val="accent3">
                    <a:lumMod val="25000"/>
                  </a:schemeClr>
                </a:solidFill>
                <a:latin typeface="Abadi"/>
              </a:rPr>
              <a:t>Web Scraping: Employed </a:t>
            </a:r>
            <a:r>
              <a:rPr lang="en-US" dirty="0" err="1">
                <a:solidFill>
                  <a:schemeClr val="accent3">
                    <a:lumMod val="25000"/>
                  </a:schemeClr>
                </a:solidFill>
                <a:latin typeface="Abadi"/>
              </a:rPr>
              <a:t>BeautifulSoup</a:t>
            </a:r>
            <a:r>
              <a:rPr lang="en-US" dirty="0">
                <a:solidFill>
                  <a:schemeClr val="accent3">
                    <a:lumMod val="25000"/>
                  </a:schemeClr>
                </a:solidFill>
                <a:latin typeface="Abadi"/>
              </a:rPr>
              <a:t> to extract historical launch records from Wikipedia tables.</a:t>
            </a:r>
          </a:p>
          <a:p>
            <a:pPr lvl="1">
              <a:lnSpc>
                <a:spcPct val="120000"/>
              </a:lnSpc>
              <a:spcBef>
                <a:spcPts val="1400"/>
              </a:spcBef>
            </a:pPr>
            <a:r>
              <a:rPr lang="en-US" dirty="0">
                <a:solidFill>
                  <a:schemeClr val="accent3">
                    <a:lumMod val="25000"/>
                  </a:schemeClr>
                </a:solidFill>
                <a:latin typeface="Abadi"/>
              </a:rPr>
              <a:t>Data Export: Saved processed data to CSV files for reproducibility and further analysis.</a:t>
            </a:r>
            <a:endParaRPr lang="en-US" sz="700" dirty="0">
              <a:solidFill>
                <a:schemeClr val="accent3">
                  <a:lumMod val="25000"/>
                </a:schemeClr>
              </a:solidFill>
              <a:latin typeface="Abadi"/>
            </a:endParaRPr>
          </a:p>
        </p:txBody>
      </p:sp>
      <p:sp>
        <p:nvSpPr>
          <p:cNvPr id="13" name="Title 1">
            <a:extLst>
              <a:ext uri="{FF2B5EF4-FFF2-40B4-BE49-F238E27FC236}">
                <a16:creationId xmlns:a16="http://schemas.microsoft.com/office/drawing/2014/main" id="{13C62649-0825-4926-8E2A-2EBCCFE00EC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Methodology</a:t>
            </a:r>
            <a:endParaRPr lang="en-US" dirty="0">
              <a:solidFill>
                <a:srgbClr val="0B49CB"/>
              </a:solidFill>
            </a:endParaRPr>
          </a:p>
        </p:txBody>
      </p:sp>
      <p:sp>
        <p:nvSpPr>
          <p:cNvPr id="2" name="ZoneTexte 1">
            <a:extLst>
              <a:ext uri="{FF2B5EF4-FFF2-40B4-BE49-F238E27FC236}">
                <a16:creationId xmlns:a16="http://schemas.microsoft.com/office/drawing/2014/main" id="{DE910D34-D05A-60ED-0F9F-C8AE02320013}"/>
              </a:ext>
            </a:extLst>
          </p:cNvPr>
          <p:cNvSpPr txBox="1"/>
          <p:nvPr/>
        </p:nvSpPr>
        <p:spPr>
          <a:xfrm>
            <a:off x="7022124" y="1580809"/>
            <a:ext cx="4560276" cy="3306546"/>
          </a:xfrm>
          <a:prstGeom prst="rect">
            <a:avLst/>
          </a:prstGeom>
          <a:noFill/>
        </p:spPr>
        <p:txBody>
          <a:bodyPr wrap="square" rtlCol="0">
            <a:spAutoFit/>
          </a:bodyPr>
          <a:lstStyle/>
          <a:p>
            <a:pPr>
              <a:lnSpc>
                <a:spcPct val="120000"/>
              </a:lnSpc>
              <a:spcBef>
                <a:spcPts val="1400"/>
              </a:spcBef>
            </a:pPr>
            <a:endParaRPr lang="en-US" sz="1600" dirty="0">
              <a:solidFill>
                <a:schemeClr val="accent3">
                  <a:lumMod val="25000"/>
                </a:schemeClr>
              </a:solidFill>
              <a:latin typeface="Abadi"/>
            </a:endParaRPr>
          </a:p>
          <a:p>
            <a:pPr marL="285750" indent="-285750">
              <a:lnSpc>
                <a:spcPct val="120000"/>
              </a:lnSpc>
              <a:spcBef>
                <a:spcPts val="1400"/>
              </a:spcBef>
              <a:buFont typeface="Arial" panose="020B0604020202020204" pitchFamily="34" charset="0"/>
              <a:buChar char="•"/>
            </a:pPr>
            <a:r>
              <a:rPr lang="en-US" sz="2000" dirty="0">
                <a:solidFill>
                  <a:schemeClr val="accent3">
                    <a:lumMod val="25000"/>
                  </a:schemeClr>
                </a:solidFill>
                <a:latin typeface="Abadi"/>
              </a:rPr>
              <a:t>Perform data wrangling</a:t>
            </a:r>
          </a:p>
          <a:p>
            <a:pPr marL="685800" lvl="1" indent="-228600">
              <a:spcBef>
                <a:spcPts val="1400"/>
              </a:spcBef>
              <a:buFont typeface="Arial"/>
              <a:buChar char="•"/>
            </a:pPr>
            <a:r>
              <a:rPr lang="en-US" sz="1700" dirty="0">
                <a:solidFill>
                  <a:schemeClr val="accent3">
                    <a:lumMod val="25000"/>
                  </a:schemeClr>
                </a:solidFill>
                <a:latin typeface="Abadi"/>
              </a:rPr>
              <a:t>Merged API and web-scraped data.</a:t>
            </a:r>
          </a:p>
          <a:p>
            <a:pPr marL="685800" lvl="1" indent="-228600">
              <a:spcBef>
                <a:spcPts val="1400"/>
              </a:spcBef>
              <a:buFont typeface="Arial"/>
              <a:buChar char="•"/>
            </a:pPr>
            <a:r>
              <a:rPr lang="en-US" sz="1700" dirty="0">
                <a:solidFill>
                  <a:schemeClr val="accent3">
                    <a:lumMod val="25000"/>
                  </a:schemeClr>
                </a:solidFill>
                <a:latin typeface="Abadi"/>
              </a:rPr>
              <a:t>Cleaned missing values, standardized column names, and filtered for Falcon 9 launches.</a:t>
            </a:r>
          </a:p>
          <a:p>
            <a:pPr marL="685800" lvl="1" indent="-228600">
              <a:spcBef>
                <a:spcPts val="1400"/>
              </a:spcBef>
              <a:buFont typeface="Arial"/>
              <a:buChar char="•"/>
            </a:pPr>
            <a:r>
              <a:rPr lang="en-US" sz="1700" dirty="0">
                <a:solidFill>
                  <a:schemeClr val="accent3">
                    <a:lumMod val="25000"/>
                  </a:schemeClr>
                </a:solidFill>
                <a:latin typeface="Abadi"/>
              </a:rPr>
              <a:t>Engineered new features (e.g., landing outcome labels, class variable for success/failure).</a:t>
            </a:r>
          </a:p>
        </p:txBody>
      </p:sp>
      <p:sp>
        <p:nvSpPr>
          <p:cNvPr id="3" name="Content Placeholder 2">
            <a:extLst>
              <a:ext uri="{FF2B5EF4-FFF2-40B4-BE49-F238E27FC236}">
                <a16:creationId xmlns:a16="http://schemas.microsoft.com/office/drawing/2014/main" id="{EFF95F31-FE53-5A56-F8EC-77DCAB9C5FE2}"/>
              </a:ext>
            </a:extLst>
          </p:cNvPr>
          <p:cNvSpPr txBox="1">
            <a:spLocks/>
          </p:cNvSpPr>
          <p:nvPr/>
        </p:nvSpPr>
        <p:spPr>
          <a:xfrm>
            <a:off x="734028" y="5028208"/>
            <a:ext cx="8538926" cy="1583607"/>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20000"/>
              </a:lnSpc>
              <a:spcBef>
                <a:spcPts val="1400"/>
              </a:spcBef>
            </a:pPr>
            <a:r>
              <a:rPr lang="en-US" sz="1800" dirty="0">
                <a:solidFill>
                  <a:schemeClr val="accent3">
                    <a:lumMod val="25000"/>
                  </a:schemeClr>
                </a:solidFill>
                <a:latin typeface="Abadi"/>
              </a:rPr>
              <a:t>Perform exploratory data analysis (EDA) using visualization and SQL</a:t>
            </a:r>
          </a:p>
          <a:p>
            <a:pPr>
              <a:lnSpc>
                <a:spcPct val="120000"/>
              </a:lnSpc>
              <a:spcBef>
                <a:spcPts val="1400"/>
              </a:spcBef>
            </a:pPr>
            <a:r>
              <a:rPr lang="en-US" sz="1800" dirty="0">
                <a:solidFill>
                  <a:schemeClr val="accent3">
                    <a:lumMod val="25000"/>
                  </a:schemeClr>
                </a:solidFill>
                <a:latin typeface="Abadi"/>
              </a:rPr>
              <a:t>Perform interactive visual analytics using Folium and </a:t>
            </a:r>
            <a:r>
              <a:rPr lang="en-US" sz="1800" dirty="0" err="1">
                <a:solidFill>
                  <a:schemeClr val="accent3">
                    <a:lumMod val="25000"/>
                  </a:schemeClr>
                </a:solidFill>
                <a:latin typeface="Abadi"/>
              </a:rPr>
              <a:t>Plotly</a:t>
            </a:r>
            <a:r>
              <a:rPr lang="en-US" sz="1800" dirty="0">
                <a:solidFill>
                  <a:schemeClr val="accent3">
                    <a:lumMod val="25000"/>
                  </a:schemeClr>
                </a:solidFill>
                <a:latin typeface="Abadi"/>
              </a:rPr>
              <a:t> Dash</a:t>
            </a:r>
          </a:p>
          <a:p>
            <a:pPr>
              <a:lnSpc>
                <a:spcPct val="120000"/>
              </a:lnSpc>
              <a:spcBef>
                <a:spcPts val="1400"/>
              </a:spcBef>
            </a:pPr>
            <a:r>
              <a:rPr lang="en-US" sz="1800" dirty="0">
                <a:solidFill>
                  <a:schemeClr val="accent3">
                    <a:lumMod val="25000"/>
                  </a:schemeClr>
                </a:solidFill>
                <a:latin typeface="Abadi"/>
              </a:rPr>
              <a:t>Perform predictive analysis using classification models</a:t>
            </a:r>
            <a:endParaRPr lang="en-US" sz="300" dirty="0">
              <a:solidFill>
                <a:schemeClr val="accent3">
                  <a:lumMod val="25000"/>
                </a:schemeClr>
              </a:solidFill>
              <a:latin typeface="Abadi"/>
            </a:endParaRPr>
          </a:p>
        </p:txBody>
      </p:sp>
    </p:spTree>
    <p:extLst>
      <p:ext uri="{BB962C8B-B14F-4D97-AF65-F5344CB8AC3E}">
        <p14:creationId xmlns:p14="http://schemas.microsoft.com/office/powerpoint/2010/main" val="1553432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8</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2669150" y="1708394"/>
            <a:ext cx="5923866" cy="2980837"/>
          </a:xfrm>
          <a:prstGeom prst="rect">
            <a:avLst/>
          </a:prstGeom>
        </p:spPr>
        <p:txBody>
          <a:bodyPr/>
          <a:lstStyle/>
          <a:p>
            <a:pPr marL="0" indent="0">
              <a:lnSpc>
                <a:spcPct val="100000"/>
              </a:lnSpc>
              <a:spcBef>
                <a:spcPts val="1400"/>
              </a:spcBef>
              <a:buNone/>
            </a:pPr>
            <a:r>
              <a:rPr lang="en-US" sz="2400" dirty="0">
                <a:solidFill>
                  <a:schemeClr val="accent3">
                    <a:lumMod val="25000"/>
                  </a:schemeClr>
                </a:solidFill>
                <a:latin typeface="Abadi" panose="020B0604020104020204" pitchFamily="34" charset="0"/>
              </a:rPr>
              <a:t>Data Sources and Process</a:t>
            </a: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a:p>
            <a:pPr lvl="1"/>
            <a:r>
              <a:rPr lang="en-US" dirty="0"/>
              <a:t>SpaceX API: Automated data extraction for launch details, rocket specs, and outcomes.</a:t>
            </a:r>
          </a:p>
          <a:p>
            <a:pPr lvl="1"/>
            <a:r>
              <a:rPr lang="en-US" dirty="0"/>
              <a:t>Wikipedia: Scraped tabular data for historical launches and outcomes.</a:t>
            </a:r>
          </a:p>
          <a:p>
            <a:pPr marL="0" indent="0">
              <a:buNone/>
            </a:pPr>
            <a:endParaRPr lang="en-US" dirty="0"/>
          </a:p>
        </p:txBody>
      </p:sp>
      <p:sp>
        <p:nvSpPr>
          <p:cNvPr id="12" name="Title 1">
            <a:extLst>
              <a:ext uri="{FF2B5EF4-FFF2-40B4-BE49-F238E27FC236}">
                <a16:creationId xmlns:a16="http://schemas.microsoft.com/office/drawing/2014/main" id="{D77AC1D2-8B41-4A7A-88CF-41E6B7D8C98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a:t>
            </a:r>
            <a:endParaRPr lang="en-US" dirty="0">
              <a:solidFill>
                <a:srgbClr val="0B49CB"/>
              </a:solidFill>
            </a:endParaRPr>
          </a:p>
        </p:txBody>
      </p:sp>
      <p:sp>
        <p:nvSpPr>
          <p:cNvPr id="3" name="ZoneTexte 2">
            <a:extLst>
              <a:ext uri="{FF2B5EF4-FFF2-40B4-BE49-F238E27FC236}">
                <a16:creationId xmlns:a16="http://schemas.microsoft.com/office/drawing/2014/main" id="{88699D54-60EF-D50D-018B-6BDD5548BE23}"/>
              </a:ext>
            </a:extLst>
          </p:cNvPr>
          <p:cNvSpPr txBox="1"/>
          <p:nvPr/>
        </p:nvSpPr>
        <p:spPr>
          <a:xfrm>
            <a:off x="1488832" y="5102243"/>
            <a:ext cx="10421814" cy="923330"/>
          </a:xfrm>
          <a:prstGeom prst="rect">
            <a:avLst/>
          </a:prstGeom>
          <a:noFill/>
        </p:spPr>
        <p:txBody>
          <a:bodyPr wrap="square">
            <a:spAutoFit/>
          </a:bodyPr>
          <a:lstStyle/>
          <a:p>
            <a:r>
              <a:rPr lang="en-US" dirty="0"/>
              <a:t>[SpaceX API] -----\</a:t>
            </a:r>
          </a:p>
          <a:p>
            <a:r>
              <a:rPr lang="en-US" dirty="0"/>
              <a:t>                                &gt;--- [Data Wrangling &amp; Cleaning] ---&gt; [Unified Dataset] ---&gt; [EDA/Modeling]</a:t>
            </a:r>
          </a:p>
          <a:p>
            <a:r>
              <a:rPr lang="en-US" dirty="0"/>
              <a:t>[Wikipedia]  -----/</a:t>
            </a:r>
          </a:p>
        </p:txBody>
      </p:sp>
    </p:spTree>
    <p:extLst>
      <p:ext uri="{BB962C8B-B14F-4D97-AF65-F5344CB8AC3E}">
        <p14:creationId xmlns:p14="http://schemas.microsoft.com/office/powerpoint/2010/main" val="3288665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24FC0E3F-82C3-D0FB-F325-2CA6B03B8028}"/>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D41E34D-843B-901B-97EC-0A1B4B11354C}"/>
              </a:ext>
            </a:extLst>
          </p:cNvPr>
          <p:cNvSpPr>
            <a:spLocks noGrp="1"/>
          </p:cNvSpPr>
          <p:nvPr>
            <p:ph type="sldNum" sz="quarter" idx="12"/>
          </p:nvPr>
        </p:nvSpPr>
        <p:spPr/>
        <p:txBody>
          <a:bodyPr/>
          <a:lstStyle/>
          <a:p>
            <a:fld id="{5075537C-CA84-1446-933C-8E9D027F9201}" type="slidenum">
              <a:rPr lang="en-US" smtClean="0"/>
              <a:t>9</a:t>
            </a:fld>
            <a:endParaRPr lang="en-US" dirty="0"/>
          </a:p>
        </p:txBody>
      </p:sp>
      <p:sp>
        <p:nvSpPr>
          <p:cNvPr id="3" name="Text Placeholder 2">
            <a:extLst>
              <a:ext uri="{FF2B5EF4-FFF2-40B4-BE49-F238E27FC236}">
                <a16:creationId xmlns:a16="http://schemas.microsoft.com/office/drawing/2014/main" id="{6E9504D1-78A2-EF6F-FFAC-A9010D75278F}"/>
              </a:ext>
            </a:extLst>
          </p:cNvPr>
          <p:cNvSpPr>
            <a:spLocks noGrp="1"/>
          </p:cNvSpPr>
          <p:nvPr>
            <p:ph type="body" sz="half" idx="4294967295"/>
          </p:nvPr>
        </p:nvSpPr>
        <p:spPr>
          <a:xfrm>
            <a:off x="820738" y="1731818"/>
            <a:ext cx="8337117" cy="4587532"/>
          </a:xfrm>
          <a:prstGeom prst="rect">
            <a:avLst/>
          </a:prstGeom>
        </p:spPr>
        <p:txBody>
          <a:bodyPr vert="horz" lIns="91440" tIns="45720" rIns="91440" bIns="45720" rtlCol="0" anchor="t">
            <a:normAutofit fontScale="77500" lnSpcReduction="20000"/>
          </a:bodyPr>
          <a:lstStyle/>
          <a:p>
            <a:r>
              <a:rPr lang="en-US" b="1" dirty="0"/>
              <a:t>Identify API Endpoint:</a:t>
            </a:r>
            <a:br>
              <a:rPr lang="en-US" dirty="0"/>
            </a:br>
            <a:r>
              <a:rPr lang="en-US" dirty="0"/>
              <a:t>Use the SpaceX API endpoint https://</a:t>
            </a:r>
            <a:r>
              <a:rPr lang="en-US" dirty="0" err="1"/>
              <a:t>api.spacexdata.com</a:t>
            </a:r>
            <a:r>
              <a:rPr lang="en-US" dirty="0"/>
              <a:t>/v4/launches/past to retrieve historical launch data.</a:t>
            </a:r>
          </a:p>
          <a:p>
            <a:r>
              <a:rPr lang="en-US" b="1" dirty="0"/>
              <a:t>Send HTTP GET Request:</a:t>
            </a:r>
            <a:br>
              <a:rPr lang="en-US" dirty="0"/>
            </a:br>
            <a:r>
              <a:rPr lang="en-US" dirty="0"/>
              <a:t>Use Python’s </a:t>
            </a:r>
            <a:r>
              <a:rPr lang="en-US" dirty="0" err="1"/>
              <a:t>requests.get</a:t>
            </a:r>
            <a:r>
              <a:rPr lang="en-US" dirty="0"/>
              <a:t>() to fetch data from the API.</a:t>
            </a:r>
          </a:p>
          <a:p>
            <a:r>
              <a:rPr lang="en-US" b="1" dirty="0"/>
              <a:t>Parse JSON Response:</a:t>
            </a:r>
            <a:br>
              <a:rPr lang="en-US" dirty="0"/>
            </a:br>
            <a:r>
              <a:rPr lang="en-US" dirty="0"/>
              <a:t>Convert the JSON response into a pandas </a:t>
            </a:r>
            <a:r>
              <a:rPr lang="en-US" dirty="0" err="1"/>
              <a:t>DataFrame</a:t>
            </a:r>
            <a:r>
              <a:rPr lang="en-US" dirty="0"/>
              <a:t> for analysis.</a:t>
            </a:r>
          </a:p>
          <a:p>
            <a:r>
              <a:rPr lang="en-US" b="1" dirty="0"/>
              <a:t>Extract Related Data via IDs:</a:t>
            </a:r>
            <a:br>
              <a:rPr lang="en-US" dirty="0"/>
            </a:br>
            <a:r>
              <a:rPr lang="en-US" dirty="0"/>
              <a:t>For each launch, use IDs (for rocket, payload, launchpad, cores) to make additional API calls and retrieve detailed information.</a:t>
            </a:r>
          </a:p>
          <a:p>
            <a:r>
              <a:rPr lang="en-US" b="1" dirty="0"/>
              <a:t>Aggregate and Clean Data:</a:t>
            </a:r>
            <a:br>
              <a:rPr lang="en-US" dirty="0"/>
            </a:br>
            <a:r>
              <a:rPr lang="en-US" dirty="0"/>
              <a:t>Combine all extracted information into a unified </a:t>
            </a:r>
            <a:r>
              <a:rPr lang="en-US" dirty="0" err="1"/>
              <a:t>DataFrame</a:t>
            </a:r>
            <a:r>
              <a:rPr lang="en-US" dirty="0"/>
              <a:t>, handle missing values, and filter for Falcon 9 launches.</a:t>
            </a:r>
          </a:p>
          <a:p>
            <a:r>
              <a:rPr lang="en-US" b="1" dirty="0"/>
              <a:t>Export Data:</a:t>
            </a:r>
            <a:br>
              <a:rPr lang="en-US" dirty="0"/>
            </a:br>
            <a:r>
              <a:rPr lang="en-US" dirty="0"/>
              <a:t>Save the cleaned </a:t>
            </a:r>
            <a:r>
              <a:rPr lang="en-US" dirty="0" err="1"/>
              <a:t>DataFrame</a:t>
            </a:r>
            <a:r>
              <a:rPr lang="en-US" dirty="0"/>
              <a:t> to a CSV file for further analysis.</a:t>
            </a:r>
          </a:p>
          <a:p>
            <a:endParaRPr lang="en-US" dirty="0"/>
          </a:p>
        </p:txBody>
      </p:sp>
      <p:sp>
        <p:nvSpPr>
          <p:cNvPr id="4" name="Title 1">
            <a:extLst>
              <a:ext uri="{FF2B5EF4-FFF2-40B4-BE49-F238E27FC236}">
                <a16:creationId xmlns:a16="http://schemas.microsoft.com/office/drawing/2014/main" id="{460150A7-0645-2F41-0CB0-F094B3B9F3A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SpaceX API</a:t>
            </a:r>
          </a:p>
        </p:txBody>
      </p:sp>
      <p:sp>
        <p:nvSpPr>
          <p:cNvPr id="9" name="ZoneTexte 8">
            <a:extLst>
              <a:ext uri="{FF2B5EF4-FFF2-40B4-BE49-F238E27FC236}">
                <a16:creationId xmlns:a16="http://schemas.microsoft.com/office/drawing/2014/main" id="{139EDFF7-F957-F279-CC91-6051B8574481}"/>
              </a:ext>
            </a:extLst>
          </p:cNvPr>
          <p:cNvSpPr txBox="1"/>
          <p:nvPr/>
        </p:nvSpPr>
        <p:spPr>
          <a:xfrm>
            <a:off x="6303818" y="3297382"/>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766005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0F084420-434F-2E07-8D44-C1323179397B}"/>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2122A1B-8110-44D9-CBAE-9B51A7999571}"/>
              </a:ext>
            </a:extLst>
          </p:cNvPr>
          <p:cNvSpPr>
            <a:spLocks noGrp="1"/>
          </p:cNvSpPr>
          <p:nvPr>
            <p:ph type="sldNum" sz="quarter" idx="12"/>
          </p:nvPr>
        </p:nvSpPr>
        <p:spPr/>
        <p:txBody>
          <a:bodyPr/>
          <a:lstStyle/>
          <a:p>
            <a:fld id="{5075537C-CA84-1446-933C-8E9D027F9201}" type="slidenum">
              <a:rPr lang="en-US" smtClean="0"/>
              <a:t>10</a:t>
            </a:fld>
            <a:endParaRPr lang="en-US" dirty="0"/>
          </a:p>
        </p:txBody>
      </p:sp>
      <p:graphicFrame>
        <p:nvGraphicFramePr>
          <p:cNvPr id="11" name="Espace réservé du contenu 10">
            <a:extLst>
              <a:ext uri="{FF2B5EF4-FFF2-40B4-BE49-F238E27FC236}">
                <a16:creationId xmlns:a16="http://schemas.microsoft.com/office/drawing/2014/main" id="{2A3A5B51-F015-BCB2-2F72-B0197AB69FCE}"/>
              </a:ext>
            </a:extLst>
          </p:cNvPr>
          <p:cNvGraphicFramePr>
            <a:graphicFrameLocks noGrp="1"/>
          </p:cNvGraphicFramePr>
          <p:nvPr>
            <p:ph idx="4294967295"/>
            <p:extLst>
              <p:ext uri="{D42A27DB-BD31-4B8C-83A1-F6EECF244321}">
                <p14:modId xmlns:p14="http://schemas.microsoft.com/office/powerpoint/2010/main" val="3810497806"/>
              </p:ext>
            </p:extLst>
          </p:nvPr>
        </p:nvGraphicFramePr>
        <p:xfrm>
          <a:off x="618187" y="1453202"/>
          <a:ext cx="11371262" cy="31324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tle 1">
            <a:extLst>
              <a:ext uri="{FF2B5EF4-FFF2-40B4-BE49-F238E27FC236}">
                <a16:creationId xmlns:a16="http://schemas.microsoft.com/office/drawing/2014/main" id="{3BF939C0-D72F-EAC5-5FA3-CB845191753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SpaceX API</a:t>
            </a:r>
          </a:p>
        </p:txBody>
      </p:sp>
      <p:sp>
        <p:nvSpPr>
          <p:cNvPr id="9" name="ZoneTexte 8">
            <a:extLst>
              <a:ext uri="{FF2B5EF4-FFF2-40B4-BE49-F238E27FC236}">
                <a16:creationId xmlns:a16="http://schemas.microsoft.com/office/drawing/2014/main" id="{9D3EE7D1-C85A-C2CE-5D5F-9E797A141F0E}"/>
              </a:ext>
            </a:extLst>
          </p:cNvPr>
          <p:cNvSpPr txBox="1"/>
          <p:nvPr/>
        </p:nvSpPr>
        <p:spPr>
          <a:xfrm>
            <a:off x="6303818" y="3297382"/>
            <a:ext cx="184731" cy="369332"/>
          </a:xfrm>
          <a:prstGeom prst="rect">
            <a:avLst/>
          </a:prstGeom>
          <a:noFill/>
        </p:spPr>
        <p:txBody>
          <a:bodyPr wrap="none" rtlCol="0">
            <a:spAutoFit/>
          </a:bodyPr>
          <a:lstStyle/>
          <a:p>
            <a:endParaRPr lang="en-US" dirty="0"/>
          </a:p>
        </p:txBody>
      </p:sp>
      <p:sp>
        <p:nvSpPr>
          <p:cNvPr id="2" name="Text Placeholder 2">
            <a:extLst>
              <a:ext uri="{FF2B5EF4-FFF2-40B4-BE49-F238E27FC236}">
                <a16:creationId xmlns:a16="http://schemas.microsoft.com/office/drawing/2014/main" id="{646A00EE-59EE-7BE2-650E-FAB3AC592741}"/>
              </a:ext>
            </a:extLst>
          </p:cNvPr>
          <p:cNvSpPr txBox="1">
            <a:spLocks/>
          </p:cNvSpPr>
          <p:nvPr/>
        </p:nvSpPr>
        <p:spPr>
          <a:xfrm>
            <a:off x="2916102" y="4585626"/>
            <a:ext cx="6257878" cy="2067190"/>
          </a:xfrm>
          <a:prstGeom prst="rect">
            <a:avLst/>
          </a:prstGeom>
          <a:ln>
            <a:solidFill>
              <a:schemeClr val="accent1"/>
            </a:solidFill>
          </a:ln>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GitHub URL of the completed SpaceX API calls notebook:</a:t>
            </a:r>
            <a:br>
              <a:rPr lang="en-US" sz="2200" dirty="0">
                <a:solidFill>
                  <a:schemeClr val="accent3">
                    <a:lumMod val="25000"/>
                  </a:schemeClr>
                </a:solidFill>
                <a:latin typeface="Abadi" panose="020B0604020104020204" pitchFamily="34" charset="0"/>
              </a:rPr>
            </a:br>
            <a:br>
              <a:rPr lang="en-US" sz="2200" dirty="0">
                <a:solidFill>
                  <a:schemeClr val="accent3">
                    <a:lumMod val="25000"/>
                  </a:schemeClr>
                </a:solidFill>
                <a:latin typeface="Abadi" panose="020B0604020104020204" pitchFamily="34" charset="0"/>
              </a:rPr>
            </a:br>
            <a:br>
              <a:rPr lang="en-US" sz="2200" dirty="0">
                <a:solidFill>
                  <a:schemeClr val="accent3">
                    <a:lumMod val="25000"/>
                  </a:schemeClr>
                </a:solidFill>
                <a:latin typeface="Abadi" panose="020B0604020104020204" pitchFamily="34" charset="0"/>
              </a:rPr>
            </a:br>
            <a:endParaRPr lang="en-US" sz="2200" dirty="0">
              <a:solidFill>
                <a:schemeClr val="accent3">
                  <a:lumMod val="25000"/>
                </a:schemeClr>
              </a:solidFill>
              <a:latin typeface="Abadi" panose="020B0604020104020204" pitchFamily="34" charset="0"/>
            </a:endParaRPr>
          </a:p>
        </p:txBody>
      </p:sp>
      <p:sp>
        <p:nvSpPr>
          <p:cNvPr id="3" name="ZoneTexte 2">
            <a:extLst>
              <a:ext uri="{FF2B5EF4-FFF2-40B4-BE49-F238E27FC236}">
                <a16:creationId xmlns:a16="http://schemas.microsoft.com/office/drawing/2014/main" id="{A7A1E4C0-CD97-0DFC-009B-7CBDDC1C5B95}"/>
              </a:ext>
            </a:extLst>
          </p:cNvPr>
          <p:cNvSpPr txBox="1"/>
          <p:nvPr/>
        </p:nvSpPr>
        <p:spPr>
          <a:xfrm>
            <a:off x="4420281" y="1453201"/>
            <a:ext cx="3767074" cy="369332"/>
          </a:xfrm>
          <a:prstGeom prst="rect">
            <a:avLst/>
          </a:prstGeom>
          <a:noFill/>
        </p:spPr>
        <p:txBody>
          <a:bodyPr wrap="square" rtlCol="0">
            <a:spAutoFit/>
          </a:bodyPr>
          <a:lstStyle/>
          <a:p>
            <a:pPr algn="ctr"/>
            <a:r>
              <a:rPr lang="en-US" dirty="0">
                <a:solidFill>
                  <a:srgbClr val="1C7DDB"/>
                </a:solidFill>
                <a:latin typeface="Abadi"/>
              </a:rPr>
              <a:t>flowchart of SpaceX API calls</a:t>
            </a:r>
            <a:endParaRPr lang="fr-FR" dirty="0"/>
          </a:p>
        </p:txBody>
      </p:sp>
      <p:sp>
        <p:nvSpPr>
          <p:cNvPr id="7" name="ZoneTexte 6">
            <a:extLst>
              <a:ext uri="{FF2B5EF4-FFF2-40B4-BE49-F238E27FC236}">
                <a16:creationId xmlns:a16="http://schemas.microsoft.com/office/drawing/2014/main" id="{05997BBF-BA23-A000-9017-D06AB184DCB2}"/>
              </a:ext>
            </a:extLst>
          </p:cNvPr>
          <p:cNvSpPr txBox="1"/>
          <p:nvPr/>
        </p:nvSpPr>
        <p:spPr>
          <a:xfrm>
            <a:off x="3669047" y="5452487"/>
            <a:ext cx="4671764" cy="1200329"/>
          </a:xfrm>
          <a:prstGeom prst="rect">
            <a:avLst/>
          </a:prstGeom>
          <a:noFill/>
        </p:spPr>
        <p:txBody>
          <a:bodyPr wrap="square">
            <a:spAutoFit/>
          </a:bodyPr>
          <a:lstStyle/>
          <a:p>
            <a:r>
              <a:rPr lang="en-US" dirty="0">
                <a:solidFill>
                  <a:schemeClr val="accent3">
                    <a:lumMod val="25000"/>
                  </a:schemeClr>
                </a:solidFill>
                <a:latin typeface="Abadi" panose="020B0604020104020204" pitchFamily="34" charset="0"/>
                <a:hlinkClick r:id="rId8"/>
              </a:rPr>
              <a:t>https://github.com/MamadyMagass/Applied-Data-Science-Capstone-IBM/blob/main/week_1/jupyter-labs-spacex-data-collection-api.ipynb</a:t>
            </a:r>
            <a:endParaRPr lang="fr-FR" dirty="0"/>
          </a:p>
        </p:txBody>
      </p:sp>
    </p:spTree>
    <p:extLst>
      <p:ext uri="{BB962C8B-B14F-4D97-AF65-F5344CB8AC3E}">
        <p14:creationId xmlns:p14="http://schemas.microsoft.com/office/powerpoint/2010/main" val="1428496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72D13-E550-9FB5-11A3-C60ACA8B7F76}"/>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1D7311A-8A90-93AE-0662-3953C1B704F2}"/>
              </a:ext>
            </a:extLst>
          </p:cNvPr>
          <p:cNvSpPr>
            <a:spLocks noGrp="1"/>
          </p:cNvSpPr>
          <p:nvPr>
            <p:ph type="sldNum" sz="quarter" idx="12"/>
          </p:nvPr>
        </p:nvSpPr>
        <p:spPr/>
        <p:txBody>
          <a:bodyPr/>
          <a:lstStyle/>
          <a:p>
            <a:fld id="{5075537C-CA84-1446-933C-8E9D027F9201}" type="slidenum">
              <a:rPr lang="en-US" smtClean="0"/>
              <a:t>11</a:t>
            </a:fld>
            <a:endParaRPr lang="en-US"/>
          </a:p>
        </p:txBody>
      </p:sp>
      <p:sp>
        <p:nvSpPr>
          <p:cNvPr id="3" name="Text Placeholder 2">
            <a:extLst>
              <a:ext uri="{FF2B5EF4-FFF2-40B4-BE49-F238E27FC236}">
                <a16:creationId xmlns:a16="http://schemas.microsoft.com/office/drawing/2014/main" id="{DA6F8A4C-F99D-6F9F-45C6-38AE9722CC8F}"/>
              </a:ext>
            </a:extLst>
          </p:cNvPr>
          <p:cNvSpPr>
            <a:spLocks noGrp="1"/>
          </p:cNvSpPr>
          <p:nvPr>
            <p:ph type="body" sz="half" idx="4294967295"/>
          </p:nvPr>
        </p:nvSpPr>
        <p:spPr>
          <a:xfrm>
            <a:off x="734028" y="1103359"/>
            <a:ext cx="9959533" cy="4922214"/>
          </a:xfrm>
          <a:prstGeom prst="rect">
            <a:avLst/>
          </a:prstGeom>
        </p:spPr>
        <p:txBody>
          <a:bodyPr lIns="91440" tIns="45720" rIns="91440" bIns="45720" anchor="t">
            <a:noAutofit/>
          </a:bodyPr>
          <a:lstStyle/>
          <a:p>
            <a:pPr>
              <a:lnSpc>
                <a:spcPct val="100000"/>
              </a:lnSpc>
              <a:spcBef>
                <a:spcPts val="1400"/>
              </a:spcBef>
            </a:pPr>
            <a:r>
              <a:rPr lang="en-US" sz="2000" dirty="0">
                <a:solidFill>
                  <a:schemeClr val="accent3">
                    <a:lumMod val="25000"/>
                  </a:schemeClr>
                </a:solidFill>
                <a:latin typeface="Abadi"/>
              </a:rPr>
              <a:t>Identify Data Source: Selected the Wikipedia page for Falcon 9 and Falcon Heavy launches.</a:t>
            </a:r>
          </a:p>
          <a:p>
            <a:pPr>
              <a:lnSpc>
                <a:spcPct val="100000"/>
              </a:lnSpc>
              <a:spcBef>
                <a:spcPts val="1400"/>
              </a:spcBef>
            </a:pPr>
            <a:r>
              <a:rPr lang="en-US" sz="2000" dirty="0">
                <a:solidFill>
                  <a:schemeClr val="accent3">
                    <a:lumMod val="25000"/>
                  </a:schemeClr>
                </a:solidFill>
                <a:latin typeface="Abadi"/>
              </a:rPr>
              <a:t>Send HTTP Request: Used </a:t>
            </a:r>
            <a:r>
              <a:rPr lang="en-US" sz="2000" dirty="0" err="1">
                <a:solidFill>
                  <a:schemeClr val="accent3">
                    <a:lumMod val="25000"/>
                  </a:schemeClr>
                </a:solidFill>
                <a:latin typeface="Abadi"/>
              </a:rPr>
              <a:t>requests.get</a:t>
            </a:r>
            <a:r>
              <a:rPr lang="en-US" sz="2000" dirty="0">
                <a:solidFill>
                  <a:schemeClr val="accent3">
                    <a:lumMod val="25000"/>
                  </a:schemeClr>
                </a:solidFill>
                <a:latin typeface="Abadi"/>
              </a:rPr>
              <a:t>() with a User-Agent header to fetch the HTML content.</a:t>
            </a:r>
          </a:p>
          <a:p>
            <a:pPr>
              <a:lnSpc>
                <a:spcPct val="100000"/>
              </a:lnSpc>
              <a:spcBef>
                <a:spcPts val="1400"/>
              </a:spcBef>
            </a:pPr>
            <a:r>
              <a:rPr lang="en-US" sz="2000" dirty="0">
                <a:solidFill>
                  <a:schemeClr val="accent3">
                    <a:lumMod val="25000"/>
                  </a:schemeClr>
                </a:solidFill>
                <a:latin typeface="Abadi"/>
              </a:rPr>
              <a:t>Parse HTML: Utilized </a:t>
            </a:r>
            <a:r>
              <a:rPr lang="en-US" sz="2000" dirty="0" err="1">
                <a:solidFill>
                  <a:schemeClr val="accent3">
                    <a:lumMod val="25000"/>
                  </a:schemeClr>
                </a:solidFill>
                <a:latin typeface="Abadi"/>
              </a:rPr>
              <a:t>BeautifulSoup</a:t>
            </a:r>
            <a:r>
              <a:rPr lang="en-US" sz="2000" dirty="0">
                <a:solidFill>
                  <a:schemeClr val="accent3">
                    <a:lumMod val="25000"/>
                  </a:schemeClr>
                </a:solidFill>
                <a:latin typeface="Abadi"/>
              </a:rPr>
              <a:t> to parse the HTML and locate the target table.</a:t>
            </a:r>
          </a:p>
          <a:p>
            <a:pPr>
              <a:lnSpc>
                <a:spcPct val="100000"/>
              </a:lnSpc>
              <a:spcBef>
                <a:spcPts val="1400"/>
              </a:spcBef>
            </a:pPr>
            <a:r>
              <a:rPr lang="en-US" sz="2000" dirty="0">
                <a:solidFill>
                  <a:schemeClr val="accent3">
                    <a:lumMod val="25000"/>
                  </a:schemeClr>
                </a:solidFill>
                <a:latin typeface="Abadi"/>
              </a:rPr>
              <a:t>Extract Table Headers: Iterated through &lt;</a:t>
            </a:r>
            <a:r>
              <a:rPr lang="en-US" sz="2000" dirty="0" err="1">
                <a:solidFill>
                  <a:schemeClr val="accent3">
                    <a:lumMod val="25000"/>
                  </a:schemeClr>
                </a:solidFill>
                <a:latin typeface="Abadi"/>
              </a:rPr>
              <a:t>th</a:t>
            </a:r>
            <a:r>
              <a:rPr lang="en-US" sz="2000" dirty="0">
                <a:solidFill>
                  <a:schemeClr val="accent3">
                    <a:lumMod val="25000"/>
                  </a:schemeClr>
                </a:solidFill>
                <a:latin typeface="Abadi"/>
              </a:rPr>
              <a:t>&gt; elements to get column names.</a:t>
            </a:r>
          </a:p>
          <a:p>
            <a:pPr>
              <a:lnSpc>
                <a:spcPct val="100000"/>
              </a:lnSpc>
              <a:spcBef>
                <a:spcPts val="1400"/>
              </a:spcBef>
            </a:pPr>
            <a:r>
              <a:rPr lang="en-US" sz="2000" dirty="0">
                <a:solidFill>
                  <a:schemeClr val="accent3">
                    <a:lumMod val="25000"/>
                  </a:schemeClr>
                </a:solidFill>
                <a:latin typeface="Abadi"/>
              </a:rPr>
              <a:t>Extract Table Rows: Parsed &lt;tr&gt; and &lt;td&gt; elements to collect launch data.</a:t>
            </a:r>
          </a:p>
          <a:p>
            <a:pPr>
              <a:lnSpc>
                <a:spcPct val="100000"/>
              </a:lnSpc>
              <a:spcBef>
                <a:spcPts val="1400"/>
              </a:spcBef>
            </a:pPr>
            <a:r>
              <a:rPr lang="en-US" sz="2000" dirty="0">
                <a:solidFill>
                  <a:schemeClr val="accent3">
                    <a:lumMod val="25000"/>
                  </a:schemeClr>
                </a:solidFill>
                <a:latin typeface="Abadi"/>
              </a:rPr>
              <a:t>Clean Data: Handled missing values, removed unwanted characters, and standardized formats.</a:t>
            </a:r>
          </a:p>
          <a:p>
            <a:pPr>
              <a:lnSpc>
                <a:spcPct val="100000"/>
              </a:lnSpc>
              <a:spcBef>
                <a:spcPts val="1400"/>
              </a:spcBef>
            </a:pPr>
            <a:r>
              <a:rPr lang="en-US" sz="2000" dirty="0">
                <a:solidFill>
                  <a:schemeClr val="accent3">
                    <a:lumMod val="25000"/>
                  </a:schemeClr>
                </a:solidFill>
                <a:latin typeface="Abadi"/>
              </a:rPr>
              <a:t>Store Data: Compiled the extracted data into a pandas </a:t>
            </a:r>
            <a:r>
              <a:rPr lang="en-US" sz="2000" dirty="0" err="1">
                <a:solidFill>
                  <a:schemeClr val="accent3">
                    <a:lumMod val="25000"/>
                  </a:schemeClr>
                </a:solidFill>
                <a:latin typeface="Abadi"/>
              </a:rPr>
              <a:t>DataFrame</a:t>
            </a:r>
            <a:r>
              <a:rPr lang="en-US" sz="2000" dirty="0">
                <a:solidFill>
                  <a:schemeClr val="accent3">
                    <a:lumMod val="25000"/>
                  </a:schemeClr>
                </a:solidFill>
                <a:latin typeface="Abadi"/>
              </a:rPr>
              <a:t>.</a:t>
            </a:r>
          </a:p>
          <a:p>
            <a:pPr>
              <a:lnSpc>
                <a:spcPct val="100000"/>
              </a:lnSpc>
              <a:spcBef>
                <a:spcPts val="1400"/>
              </a:spcBef>
            </a:pPr>
            <a:r>
              <a:rPr lang="en-US" sz="2000" dirty="0">
                <a:solidFill>
                  <a:schemeClr val="accent3">
                    <a:lumMod val="25000"/>
                  </a:schemeClr>
                </a:solidFill>
                <a:latin typeface="Abadi"/>
              </a:rPr>
              <a:t>Export Data: Saved the cleaned </a:t>
            </a:r>
            <a:r>
              <a:rPr lang="en-US" sz="2000" dirty="0" err="1">
                <a:solidFill>
                  <a:schemeClr val="accent3">
                    <a:lumMod val="25000"/>
                  </a:schemeClr>
                </a:solidFill>
                <a:latin typeface="Abadi"/>
              </a:rPr>
              <a:t>DataFrame</a:t>
            </a:r>
            <a:r>
              <a:rPr lang="en-US" sz="2000" dirty="0">
                <a:solidFill>
                  <a:schemeClr val="accent3">
                    <a:lumMod val="25000"/>
                  </a:schemeClr>
                </a:solidFill>
                <a:latin typeface="Abadi"/>
              </a:rPr>
              <a:t> to a CSV file for further analysis.</a:t>
            </a:r>
          </a:p>
        </p:txBody>
      </p:sp>
      <p:sp>
        <p:nvSpPr>
          <p:cNvPr id="4" name="Title 1">
            <a:extLst>
              <a:ext uri="{FF2B5EF4-FFF2-40B4-BE49-F238E27FC236}">
                <a16:creationId xmlns:a16="http://schemas.microsoft.com/office/drawing/2014/main" id="{2FE05A68-1E5D-AE0B-1192-715111AF23C3}"/>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endParaRPr lang="en-US">
              <a:solidFill>
                <a:srgbClr val="1C7DDB"/>
              </a:solidFill>
              <a:latin typeface="Abadi"/>
            </a:endParaRPr>
          </a:p>
        </p:txBody>
      </p:sp>
      <p:sp>
        <p:nvSpPr>
          <p:cNvPr id="11" name="Title 1">
            <a:extLst>
              <a:ext uri="{FF2B5EF4-FFF2-40B4-BE49-F238E27FC236}">
                <a16:creationId xmlns:a16="http://schemas.microsoft.com/office/drawing/2014/main" id="{A08A021A-200F-32A6-9EA5-2571ED1680A4}"/>
              </a:ext>
            </a:extLst>
          </p:cNvPr>
          <p:cNvSpPr txBox="1">
            <a:spLocks/>
          </p:cNvSpPr>
          <p:nvPr/>
        </p:nvSpPr>
        <p:spPr>
          <a:xfrm>
            <a:off x="942372" y="366828"/>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Scraping</a:t>
            </a:r>
            <a:endParaRPr lang="en-US" dirty="0">
              <a:solidFill>
                <a:srgbClr val="0B49CB"/>
              </a:solidFill>
            </a:endParaRPr>
          </a:p>
        </p:txBody>
      </p:sp>
    </p:spTree>
    <p:extLst>
      <p:ext uri="{BB962C8B-B14F-4D97-AF65-F5344CB8AC3E}">
        <p14:creationId xmlns:p14="http://schemas.microsoft.com/office/powerpoint/2010/main" val="1964874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2C211F69-243A-0A82-2AD5-9A8C854D4F24}"/>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D2D9A85-AE3A-7892-20EB-EC63D0D072B8}"/>
              </a:ext>
            </a:extLst>
          </p:cNvPr>
          <p:cNvSpPr>
            <a:spLocks noGrp="1"/>
          </p:cNvSpPr>
          <p:nvPr>
            <p:ph type="sldNum" sz="quarter" idx="12"/>
          </p:nvPr>
        </p:nvSpPr>
        <p:spPr/>
        <p:txBody>
          <a:bodyPr/>
          <a:lstStyle/>
          <a:p>
            <a:fld id="{5075537C-CA84-1446-933C-8E9D027F9201}" type="slidenum">
              <a:rPr lang="en-US" smtClean="0"/>
              <a:t>12</a:t>
            </a:fld>
            <a:endParaRPr lang="en-US" dirty="0"/>
          </a:p>
        </p:txBody>
      </p:sp>
      <p:graphicFrame>
        <p:nvGraphicFramePr>
          <p:cNvPr id="11" name="Espace réservé du contenu 10">
            <a:extLst>
              <a:ext uri="{FF2B5EF4-FFF2-40B4-BE49-F238E27FC236}">
                <a16:creationId xmlns:a16="http://schemas.microsoft.com/office/drawing/2014/main" id="{475C1FD5-C79C-B5C8-5D67-940F8D8ABC38}"/>
              </a:ext>
            </a:extLst>
          </p:cNvPr>
          <p:cNvGraphicFramePr>
            <a:graphicFrameLocks noGrp="1"/>
          </p:cNvGraphicFramePr>
          <p:nvPr>
            <p:ph idx="4294967295"/>
            <p:extLst>
              <p:ext uri="{D42A27DB-BD31-4B8C-83A1-F6EECF244321}">
                <p14:modId xmlns:p14="http://schemas.microsoft.com/office/powerpoint/2010/main" val="1000125912"/>
              </p:ext>
            </p:extLst>
          </p:nvPr>
        </p:nvGraphicFramePr>
        <p:xfrm>
          <a:off x="618187" y="1453202"/>
          <a:ext cx="11371262" cy="31324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0556ABE9-CC05-0C4A-3E6F-AEDB6C16E5BF}"/>
              </a:ext>
            </a:extLst>
          </p:cNvPr>
          <p:cNvSpPr txBox="1"/>
          <p:nvPr/>
        </p:nvSpPr>
        <p:spPr>
          <a:xfrm>
            <a:off x="6303818" y="3297382"/>
            <a:ext cx="184731" cy="369332"/>
          </a:xfrm>
          <a:prstGeom prst="rect">
            <a:avLst/>
          </a:prstGeom>
          <a:noFill/>
        </p:spPr>
        <p:txBody>
          <a:bodyPr wrap="none" rtlCol="0">
            <a:spAutoFit/>
          </a:bodyPr>
          <a:lstStyle/>
          <a:p>
            <a:endParaRPr lang="en-US" dirty="0"/>
          </a:p>
        </p:txBody>
      </p:sp>
      <p:sp>
        <p:nvSpPr>
          <p:cNvPr id="2" name="Text Placeholder 2">
            <a:extLst>
              <a:ext uri="{FF2B5EF4-FFF2-40B4-BE49-F238E27FC236}">
                <a16:creationId xmlns:a16="http://schemas.microsoft.com/office/drawing/2014/main" id="{C926A42B-629A-EF18-9F64-B01E30AB31C2}"/>
              </a:ext>
            </a:extLst>
          </p:cNvPr>
          <p:cNvSpPr txBox="1">
            <a:spLocks/>
          </p:cNvSpPr>
          <p:nvPr/>
        </p:nvSpPr>
        <p:spPr>
          <a:xfrm>
            <a:off x="2382347" y="4404856"/>
            <a:ext cx="7071046" cy="1999883"/>
          </a:xfrm>
          <a:prstGeom prst="rect">
            <a:avLst/>
          </a:prstGeom>
          <a:ln>
            <a:solidFill>
              <a:schemeClr val="accent1"/>
            </a:solidFill>
          </a:ln>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GitHub URL of the completed web scraping notebook:</a:t>
            </a:r>
            <a:br>
              <a:rPr lang="en-US" sz="2200" dirty="0">
                <a:solidFill>
                  <a:schemeClr val="accent3">
                    <a:lumMod val="25000"/>
                  </a:schemeClr>
                </a:solidFill>
                <a:latin typeface="Abadi" panose="020B0604020104020204" pitchFamily="34" charset="0"/>
              </a:rPr>
            </a:br>
            <a:r>
              <a:rPr lang="en-US" sz="2200" dirty="0">
                <a:solidFill>
                  <a:schemeClr val="accent3">
                    <a:lumMod val="25000"/>
                  </a:schemeClr>
                </a:solidFill>
                <a:latin typeface="Abadi" panose="020B0604020104020204" pitchFamily="34" charset="0"/>
                <a:hlinkClick r:id="rId8"/>
              </a:rPr>
              <a:t>https://github.com/MamadyMagass/Applied-Data-Science-Capstone-IBM/blob/main/week_1/jupyter-labs-webscraping.ipynb</a:t>
            </a:r>
            <a:br>
              <a:rPr lang="en-US" sz="2200" dirty="0">
                <a:solidFill>
                  <a:schemeClr val="accent3">
                    <a:lumMod val="25000"/>
                  </a:schemeClr>
                </a:solidFill>
                <a:latin typeface="Abadi" panose="020B0604020104020204" pitchFamily="34" charset="0"/>
              </a:rPr>
            </a:br>
            <a:br>
              <a:rPr lang="en-US" sz="2200" dirty="0">
                <a:solidFill>
                  <a:schemeClr val="accent3">
                    <a:lumMod val="25000"/>
                  </a:schemeClr>
                </a:solidFill>
                <a:latin typeface="Abadi" panose="020B0604020104020204" pitchFamily="34" charset="0"/>
              </a:rPr>
            </a:br>
            <a:endParaRPr lang="en-US" sz="2200" dirty="0">
              <a:solidFill>
                <a:schemeClr val="accent3">
                  <a:lumMod val="25000"/>
                </a:schemeClr>
              </a:solidFill>
              <a:latin typeface="Abadi" panose="020B0604020104020204" pitchFamily="34" charset="0"/>
            </a:endParaRPr>
          </a:p>
        </p:txBody>
      </p:sp>
      <p:sp>
        <p:nvSpPr>
          <p:cNvPr id="3" name="ZoneTexte 2">
            <a:extLst>
              <a:ext uri="{FF2B5EF4-FFF2-40B4-BE49-F238E27FC236}">
                <a16:creationId xmlns:a16="http://schemas.microsoft.com/office/drawing/2014/main" id="{C455C68B-DD1C-5386-F25C-79CD89B820E9}"/>
              </a:ext>
            </a:extLst>
          </p:cNvPr>
          <p:cNvSpPr txBox="1"/>
          <p:nvPr/>
        </p:nvSpPr>
        <p:spPr>
          <a:xfrm>
            <a:off x="4212463" y="1386362"/>
            <a:ext cx="3767074" cy="369332"/>
          </a:xfrm>
          <a:prstGeom prst="rect">
            <a:avLst/>
          </a:prstGeom>
          <a:noFill/>
        </p:spPr>
        <p:txBody>
          <a:bodyPr wrap="square" rtlCol="0">
            <a:spAutoFit/>
          </a:bodyPr>
          <a:lstStyle/>
          <a:p>
            <a:pPr algn="ctr"/>
            <a:r>
              <a:rPr lang="en-US" dirty="0">
                <a:solidFill>
                  <a:srgbClr val="1C7DDB"/>
                </a:solidFill>
                <a:latin typeface="Abadi"/>
              </a:rPr>
              <a:t>flowchart</a:t>
            </a:r>
            <a:endParaRPr lang="fr-FR" dirty="0"/>
          </a:p>
        </p:txBody>
      </p:sp>
      <p:sp>
        <p:nvSpPr>
          <p:cNvPr id="5" name="Title 1">
            <a:extLst>
              <a:ext uri="{FF2B5EF4-FFF2-40B4-BE49-F238E27FC236}">
                <a16:creationId xmlns:a16="http://schemas.microsoft.com/office/drawing/2014/main" id="{12F3B710-4FAA-9E26-651E-EA3CBF390E91}"/>
              </a:ext>
            </a:extLst>
          </p:cNvPr>
          <p:cNvSpPr txBox="1">
            <a:spLocks/>
          </p:cNvSpPr>
          <p:nvPr/>
        </p:nvSpPr>
        <p:spPr>
          <a:xfrm>
            <a:off x="922411" y="6910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Scraping</a:t>
            </a:r>
            <a:endParaRPr lang="en-US" dirty="0">
              <a:solidFill>
                <a:srgbClr val="0B49CB"/>
              </a:solidFill>
            </a:endParaRPr>
          </a:p>
        </p:txBody>
      </p:sp>
    </p:spTree>
    <p:extLst>
      <p:ext uri="{BB962C8B-B14F-4D97-AF65-F5344CB8AC3E}">
        <p14:creationId xmlns:p14="http://schemas.microsoft.com/office/powerpoint/2010/main" val="3724067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1F2D57F6-518E-47C8-F0F4-083F6873B7B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2CB416C-31C3-B475-0F6D-7F374ADDADA0}"/>
              </a:ext>
            </a:extLst>
          </p:cNvPr>
          <p:cNvSpPr>
            <a:spLocks noGrp="1"/>
          </p:cNvSpPr>
          <p:nvPr>
            <p:ph type="sldNum" sz="quarter" idx="12"/>
          </p:nvPr>
        </p:nvSpPr>
        <p:spPr/>
        <p:txBody>
          <a:bodyPr/>
          <a:lstStyle/>
          <a:p>
            <a:fld id="{5075537C-CA84-1446-933C-8E9D027F9201}" type="slidenum">
              <a:rPr lang="en-US" smtClean="0"/>
              <a:t>13</a:t>
            </a:fld>
            <a:endParaRPr lang="en-US" dirty="0"/>
          </a:p>
        </p:txBody>
      </p:sp>
      <p:sp>
        <p:nvSpPr>
          <p:cNvPr id="5" name="Content Placeholder 4">
            <a:extLst>
              <a:ext uri="{FF2B5EF4-FFF2-40B4-BE49-F238E27FC236}">
                <a16:creationId xmlns:a16="http://schemas.microsoft.com/office/drawing/2014/main" id="{936C4D8E-B800-5DC3-71DD-BB4FBFEF23D3}"/>
              </a:ext>
            </a:extLst>
          </p:cNvPr>
          <p:cNvSpPr>
            <a:spLocks noGrp="1"/>
          </p:cNvSpPr>
          <p:nvPr>
            <p:ph idx="4294967295"/>
          </p:nvPr>
        </p:nvSpPr>
        <p:spPr>
          <a:xfrm>
            <a:off x="1280650" y="1623256"/>
            <a:ext cx="9276514" cy="4402317"/>
          </a:xfrm>
          <a:prstGeom prst="rect">
            <a:avLst/>
          </a:prstGeom>
        </p:spPr>
        <p:txBody>
          <a:bodyPr/>
          <a:lstStyle/>
          <a:p>
            <a:r>
              <a:rPr lang="en-US" sz="2200" dirty="0">
                <a:solidFill>
                  <a:schemeClr val="accent3">
                    <a:lumMod val="25000"/>
                  </a:schemeClr>
                </a:solidFill>
                <a:latin typeface="Abadi" panose="020B0604020104020204" pitchFamily="34" charset="0"/>
                <a:cs typeface="Calibri" panose="020F0502020204030204" pitchFamily="34" charset="0"/>
              </a:rPr>
              <a:t>Data Loading: Imported the SpaceX Falcon 9 dataset using </a:t>
            </a:r>
            <a:r>
              <a:rPr lang="en-US" sz="2200" dirty="0" err="1">
                <a:solidFill>
                  <a:schemeClr val="accent3">
                    <a:lumMod val="25000"/>
                  </a:schemeClr>
                </a:solidFill>
                <a:latin typeface="Abadi" panose="020B0604020104020204" pitchFamily="34" charset="0"/>
                <a:cs typeface="Calibri" panose="020F0502020204030204" pitchFamily="34" charset="0"/>
              </a:rPr>
              <a:t>pandas.read_csv</a:t>
            </a:r>
            <a:r>
              <a:rPr lang="en-US" sz="2200" dirty="0">
                <a:solidFill>
                  <a:schemeClr val="accent3">
                    <a:lumMod val="25000"/>
                  </a:schemeClr>
                </a:solidFill>
                <a:latin typeface="Abadi" panose="020B0604020104020204" pitchFamily="34" charset="0"/>
                <a:cs typeface="Calibri" panose="020F0502020204030204" pitchFamily="34" charset="0"/>
              </a:rPr>
              <a:t>().</a:t>
            </a:r>
          </a:p>
          <a:p>
            <a:r>
              <a:rPr lang="en-US" sz="2200" dirty="0">
                <a:solidFill>
                  <a:schemeClr val="accent3">
                    <a:lumMod val="25000"/>
                  </a:schemeClr>
                </a:solidFill>
                <a:latin typeface="Abadi" panose="020B0604020104020204" pitchFamily="34" charset="0"/>
                <a:cs typeface="Calibri" panose="020F0502020204030204" pitchFamily="34" charset="0"/>
              </a:rPr>
              <a:t>Missing Value Analysis: Calculated the percentage of missing values in each column using </a:t>
            </a:r>
            <a:r>
              <a:rPr lang="en-US" sz="2200" dirty="0" err="1">
                <a:solidFill>
                  <a:schemeClr val="accent3">
                    <a:lumMod val="25000"/>
                  </a:schemeClr>
                </a:solidFill>
                <a:latin typeface="Abadi" panose="020B0604020104020204" pitchFamily="34" charset="0"/>
                <a:cs typeface="Calibri" panose="020F0502020204030204" pitchFamily="34" charset="0"/>
              </a:rPr>
              <a:t>df.isnull</a:t>
            </a:r>
            <a:r>
              <a:rPr lang="en-US" sz="2200" dirty="0">
                <a:solidFill>
                  <a:schemeClr val="accent3">
                    <a:lumMod val="25000"/>
                  </a:schemeClr>
                </a:solidFill>
                <a:latin typeface="Abadi" panose="020B0604020104020204" pitchFamily="34" charset="0"/>
                <a:cs typeface="Calibri" panose="020F0502020204030204" pitchFamily="34" charset="0"/>
              </a:rPr>
              <a:t>().sum()/</a:t>
            </a:r>
            <a:r>
              <a:rPr lang="en-US" sz="2200" dirty="0" err="1">
                <a:solidFill>
                  <a:schemeClr val="accent3">
                    <a:lumMod val="25000"/>
                  </a:schemeClr>
                </a:solidFill>
                <a:latin typeface="Abadi" panose="020B0604020104020204" pitchFamily="34" charset="0"/>
                <a:cs typeface="Calibri" panose="020F0502020204030204" pitchFamily="34" charset="0"/>
              </a:rPr>
              <a:t>len</a:t>
            </a:r>
            <a:r>
              <a:rPr lang="en-US" sz="2200" dirty="0">
                <a:solidFill>
                  <a:schemeClr val="accent3">
                    <a:lumMod val="25000"/>
                  </a:schemeClr>
                </a:solidFill>
                <a:latin typeface="Abadi" panose="020B0604020104020204" pitchFamily="34" charset="0"/>
                <a:cs typeface="Calibri" panose="020F0502020204030204" pitchFamily="34" charset="0"/>
              </a:rPr>
              <a:t>(</a:t>
            </a:r>
            <a:r>
              <a:rPr lang="en-US" sz="2200" dirty="0" err="1">
                <a:solidFill>
                  <a:schemeClr val="accent3">
                    <a:lumMod val="25000"/>
                  </a:schemeClr>
                </a:solidFill>
                <a:latin typeface="Abadi" panose="020B0604020104020204" pitchFamily="34" charset="0"/>
                <a:cs typeface="Calibri" panose="020F0502020204030204" pitchFamily="34" charset="0"/>
              </a:rPr>
              <a:t>df</a:t>
            </a:r>
            <a:r>
              <a:rPr lang="en-US" sz="2200" dirty="0">
                <a:solidFill>
                  <a:schemeClr val="accent3">
                    <a:lumMod val="25000"/>
                  </a:schemeClr>
                </a:solidFill>
                <a:latin typeface="Abadi" panose="020B0604020104020204" pitchFamily="34" charset="0"/>
                <a:cs typeface="Calibri" panose="020F0502020204030204" pitchFamily="34" charset="0"/>
              </a:rPr>
              <a:t>)*100.</a:t>
            </a:r>
          </a:p>
          <a:p>
            <a:r>
              <a:rPr lang="en-US" sz="2200" dirty="0">
                <a:solidFill>
                  <a:schemeClr val="accent3">
                    <a:lumMod val="25000"/>
                  </a:schemeClr>
                </a:solidFill>
                <a:latin typeface="Abadi" panose="020B0604020104020204" pitchFamily="34" charset="0"/>
                <a:cs typeface="Calibri" panose="020F0502020204030204" pitchFamily="34" charset="0"/>
              </a:rPr>
              <a:t>Data Type Identification: Identified numerical and categorical columns with </a:t>
            </a:r>
            <a:r>
              <a:rPr lang="en-US" sz="2200" dirty="0" err="1">
                <a:solidFill>
                  <a:schemeClr val="accent3">
                    <a:lumMod val="25000"/>
                  </a:schemeClr>
                </a:solidFill>
                <a:latin typeface="Abadi" panose="020B0604020104020204" pitchFamily="34" charset="0"/>
                <a:cs typeface="Calibri" panose="020F0502020204030204" pitchFamily="34" charset="0"/>
              </a:rPr>
              <a:t>df.dtypes</a:t>
            </a:r>
            <a:r>
              <a:rPr lang="en-US" sz="2200" dirty="0">
                <a:solidFill>
                  <a:schemeClr val="accent3">
                    <a:lumMod val="25000"/>
                  </a:schemeClr>
                </a:solidFill>
                <a:latin typeface="Abadi" panose="020B0604020104020204" pitchFamily="34" charset="0"/>
                <a:cs typeface="Calibri" panose="020F0502020204030204" pitchFamily="34" charset="0"/>
              </a:rPr>
              <a:t>.</a:t>
            </a:r>
          </a:p>
          <a:p>
            <a:r>
              <a:rPr lang="en-US" sz="2200" dirty="0">
                <a:solidFill>
                  <a:schemeClr val="accent3">
                    <a:lumMod val="25000"/>
                  </a:schemeClr>
                </a:solidFill>
                <a:latin typeface="Abadi" panose="020B0604020104020204" pitchFamily="34" charset="0"/>
                <a:cs typeface="Calibri" panose="020F0502020204030204" pitchFamily="34" charset="0"/>
              </a:rPr>
              <a:t>Exploratory Data Analysis: Used </a:t>
            </a:r>
            <a:r>
              <a:rPr lang="en-US" sz="2200" dirty="0" err="1">
                <a:solidFill>
                  <a:schemeClr val="accent3">
                    <a:lumMod val="25000"/>
                  </a:schemeClr>
                </a:solidFill>
                <a:latin typeface="Abadi" panose="020B0604020104020204" pitchFamily="34" charset="0"/>
                <a:cs typeface="Calibri" panose="020F0502020204030204" pitchFamily="34" charset="0"/>
              </a:rPr>
              <a:t>value_counts</a:t>
            </a:r>
            <a:r>
              <a:rPr lang="en-US" sz="2200" dirty="0">
                <a:solidFill>
                  <a:schemeClr val="accent3">
                    <a:lumMod val="25000"/>
                  </a:schemeClr>
                </a:solidFill>
                <a:latin typeface="Abadi" panose="020B0604020104020204" pitchFamily="34" charset="0"/>
                <a:cs typeface="Calibri" panose="020F0502020204030204" pitchFamily="34" charset="0"/>
              </a:rPr>
              <a:t>() to analyze launch sites, orbits, and mission outcomes.</a:t>
            </a:r>
          </a:p>
          <a:p>
            <a:r>
              <a:rPr lang="en-US" sz="2200" dirty="0">
                <a:solidFill>
                  <a:schemeClr val="accent3">
                    <a:lumMod val="25000"/>
                  </a:schemeClr>
                </a:solidFill>
                <a:latin typeface="Abadi" panose="020B0604020104020204" pitchFamily="34" charset="0"/>
                <a:cs typeface="Calibri" panose="020F0502020204030204" pitchFamily="34" charset="0"/>
              </a:rPr>
              <a:t>Label Creation: Created a binary classification label (Class) for landing success based on the Outcome column.</a:t>
            </a:r>
          </a:p>
          <a:p>
            <a:r>
              <a:rPr lang="en-US" sz="2200" dirty="0">
                <a:solidFill>
                  <a:schemeClr val="accent3">
                    <a:lumMod val="25000"/>
                  </a:schemeClr>
                </a:solidFill>
                <a:latin typeface="Abadi" panose="020B0604020104020204" pitchFamily="34" charset="0"/>
                <a:cs typeface="Calibri" panose="020F0502020204030204" pitchFamily="34" charset="0"/>
              </a:rPr>
              <a:t>Data Export: Saved the cleaned and labeled </a:t>
            </a:r>
            <a:r>
              <a:rPr lang="en-US" sz="2200" dirty="0" err="1">
                <a:solidFill>
                  <a:schemeClr val="accent3">
                    <a:lumMod val="25000"/>
                  </a:schemeClr>
                </a:solidFill>
                <a:latin typeface="Abadi" panose="020B0604020104020204" pitchFamily="34" charset="0"/>
                <a:cs typeface="Calibri" panose="020F0502020204030204" pitchFamily="34" charset="0"/>
              </a:rPr>
              <a:t>DataFrame</a:t>
            </a:r>
            <a:r>
              <a:rPr lang="en-US" sz="2200" dirty="0">
                <a:solidFill>
                  <a:schemeClr val="accent3">
                    <a:lumMod val="25000"/>
                  </a:schemeClr>
                </a:solidFill>
                <a:latin typeface="Abadi" panose="020B0604020104020204" pitchFamily="34" charset="0"/>
                <a:cs typeface="Calibri" panose="020F0502020204030204" pitchFamily="34" charset="0"/>
              </a:rPr>
              <a:t> to a CSV file for further analysis.</a:t>
            </a:r>
          </a:p>
        </p:txBody>
      </p:sp>
      <p:sp>
        <p:nvSpPr>
          <p:cNvPr id="8" name="Title 1">
            <a:extLst>
              <a:ext uri="{FF2B5EF4-FFF2-40B4-BE49-F238E27FC236}">
                <a16:creationId xmlns:a16="http://schemas.microsoft.com/office/drawing/2014/main" id="{679BC27E-864A-F7FA-AF75-64441E60ACA1}"/>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Wrangling</a:t>
            </a:r>
          </a:p>
        </p:txBody>
      </p:sp>
    </p:spTree>
    <p:extLst>
      <p:ext uri="{BB962C8B-B14F-4D97-AF65-F5344CB8AC3E}">
        <p14:creationId xmlns:p14="http://schemas.microsoft.com/office/powerpoint/2010/main" val="922082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EB270921-3C19-2EA1-D1F7-81898CC0D040}"/>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FA40703-EA0B-F0DF-6546-451358E2A77A}"/>
              </a:ext>
            </a:extLst>
          </p:cNvPr>
          <p:cNvSpPr>
            <a:spLocks noGrp="1"/>
          </p:cNvSpPr>
          <p:nvPr>
            <p:ph type="sldNum" sz="quarter" idx="12"/>
          </p:nvPr>
        </p:nvSpPr>
        <p:spPr/>
        <p:txBody>
          <a:bodyPr/>
          <a:lstStyle/>
          <a:p>
            <a:fld id="{5075537C-CA84-1446-933C-8E9D027F9201}" type="slidenum">
              <a:rPr lang="en-US" smtClean="0"/>
              <a:t>14</a:t>
            </a:fld>
            <a:endParaRPr lang="en-US" dirty="0"/>
          </a:p>
        </p:txBody>
      </p:sp>
      <p:graphicFrame>
        <p:nvGraphicFramePr>
          <p:cNvPr id="11" name="Espace réservé du contenu 10">
            <a:extLst>
              <a:ext uri="{FF2B5EF4-FFF2-40B4-BE49-F238E27FC236}">
                <a16:creationId xmlns:a16="http://schemas.microsoft.com/office/drawing/2014/main" id="{EA9CBF68-C5C2-6E10-C1AD-E25F26E8392E}"/>
              </a:ext>
            </a:extLst>
          </p:cNvPr>
          <p:cNvGraphicFramePr>
            <a:graphicFrameLocks noGrp="1"/>
          </p:cNvGraphicFramePr>
          <p:nvPr>
            <p:ph idx="4294967295"/>
            <p:extLst>
              <p:ext uri="{D42A27DB-BD31-4B8C-83A1-F6EECF244321}">
                <p14:modId xmlns:p14="http://schemas.microsoft.com/office/powerpoint/2010/main" val="347521207"/>
              </p:ext>
            </p:extLst>
          </p:nvPr>
        </p:nvGraphicFramePr>
        <p:xfrm>
          <a:off x="415636" y="1453202"/>
          <a:ext cx="11573813" cy="31324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a:extLst>
              <a:ext uri="{FF2B5EF4-FFF2-40B4-BE49-F238E27FC236}">
                <a16:creationId xmlns:a16="http://schemas.microsoft.com/office/drawing/2014/main" id="{D605381F-9E2C-F6B8-9386-AA45BB84A1B8}"/>
              </a:ext>
            </a:extLst>
          </p:cNvPr>
          <p:cNvSpPr txBox="1"/>
          <p:nvPr/>
        </p:nvSpPr>
        <p:spPr>
          <a:xfrm>
            <a:off x="6303818" y="3297382"/>
            <a:ext cx="184731" cy="369332"/>
          </a:xfrm>
          <a:prstGeom prst="rect">
            <a:avLst/>
          </a:prstGeom>
          <a:noFill/>
        </p:spPr>
        <p:txBody>
          <a:bodyPr wrap="none" rtlCol="0">
            <a:spAutoFit/>
          </a:bodyPr>
          <a:lstStyle/>
          <a:p>
            <a:endParaRPr lang="en-US" dirty="0"/>
          </a:p>
        </p:txBody>
      </p:sp>
      <p:sp>
        <p:nvSpPr>
          <p:cNvPr id="2" name="Text Placeholder 2">
            <a:extLst>
              <a:ext uri="{FF2B5EF4-FFF2-40B4-BE49-F238E27FC236}">
                <a16:creationId xmlns:a16="http://schemas.microsoft.com/office/drawing/2014/main" id="{E857E48D-E30A-FD3B-CE00-156E658CBC92}"/>
              </a:ext>
            </a:extLst>
          </p:cNvPr>
          <p:cNvSpPr txBox="1">
            <a:spLocks/>
          </p:cNvSpPr>
          <p:nvPr/>
        </p:nvSpPr>
        <p:spPr>
          <a:xfrm>
            <a:off x="2750482" y="4274701"/>
            <a:ext cx="7106672" cy="2044649"/>
          </a:xfrm>
          <a:prstGeom prst="rect">
            <a:avLst/>
          </a:prstGeom>
          <a:ln>
            <a:solidFill>
              <a:schemeClr val="accent1"/>
            </a:solidFill>
          </a:ln>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GitHub URL of the completed </a:t>
            </a:r>
            <a:r>
              <a:rPr lang="en-US" sz="2200" dirty="0" err="1">
                <a:solidFill>
                  <a:schemeClr val="accent3">
                    <a:lumMod val="25000"/>
                  </a:schemeClr>
                </a:solidFill>
                <a:latin typeface="Abadi" panose="020B0604020104020204" pitchFamily="34" charset="0"/>
              </a:rPr>
              <a:t>Datawrangling</a:t>
            </a:r>
            <a:r>
              <a:rPr lang="en-US" sz="2200" dirty="0">
                <a:solidFill>
                  <a:schemeClr val="accent3">
                    <a:lumMod val="25000"/>
                  </a:schemeClr>
                </a:solidFill>
                <a:latin typeface="Abadi" panose="020B0604020104020204" pitchFamily="34" charset="0"/>
              </a:rPr>
              <a:t> notebook:</a:t>
            </a:r>
          </a:p>
          <a:p>
            <a:pPr marL="0" indent="0">
              <a:lnSpc>
                <a:spcPct val="100000"/>
              </a:lnSpc>
              <a:spcBef>
                <a:spcPts val="1400"/>
              </a:spcBef>
              <a:buNone/>
            </a:pPr>
            <a:br>
              <a:rPr lang="en-US" sz="2200" dirty="0">
                <a:solidFill>
                  <a:schemeClr val="accent3">
                    <a:lumMod val="25000"/>
                  </a:schemeClr>
                </a:solidFill>
                <a:latin typeface="Abadi" panose="020B0604020104020204" pitchFamily="34" charset="0"/>
              </a:rPr>
            </a:br>
            <a:r>
              <a:rPr lang="en-US" sz="2200" dirty="0">
                <a:solidFill>
                  <a:schemeClr val="accent3">
                    <a:lumMod val="25000"/>
                  </a:schemeClr>
                </a:solidFill>
                <a:latin typeface="Abadi" panose="020B0604020104020204" pitchFamily="34" charset="0"/>
                <a:hlinkClick r:id="rId8"/>
              </a:rPr>
              <a:t>https://github.com/MamadyMagass/Applied-Data-Science-Capstone-IBM/blob/main/week_1/labs-jupyter-spacex-Data wrangling.ipynb</a:t>
            </a:r>
            <a:br>
              <a:rPr lang="en-US" sz="2200" dirty="0">
                <a:solidFill>
                  <a:schemeClr val="accent3">
                    <a:lumMod val="25000"/>
                  </a:schemeClr>
                </a:solidFill>
                <a:latin typeface="Abadi" panose="020B0604020104020204" pitchFamily="34" charset="0"/>
              </a:rPr>
            </a:br>
            <a:br>
              <a:rPr lang="en-US" sz="2200" dirty="0">
                <a:solidFill>
                  <a:schemeClr val="accent3">
                    <a:lumMod val="25000"/>
                  </a:schemeClr>
                </a:solidFill>
                <a:latin typeface="Abadi" panose="020B0604020104020204" pitchFamily="34" charset="0"/>
              </a:rPr>
            </a:br>
            <a:endParaRPr lang="en-US" sz="2200" dirty="0">
              <a:solidFill>
                <a:schemeClr val="accent3">
                  <a:lumMod val="25000"/>
                </a:schemeClr>
              </a:solidFill>
              <a:latin typeface="Abadi" panose="020B0604020104020204" pitchFamily="34" charset="0"/>
            </a:endParaRPr>
          </a:p>
        </p:txBody>
      </p:sp>
      <p:sp>
        <p:nvSpPr>
          <p:cNvPr id="3" name="ZoneTexte 2">
            <a:extLst>
              <a:ext uri="{FF2B5EF4-FFF2-40B4-BE49-F238E27FC236}">
                <a16:creationId xmlns:a16="http://schemas.microsoft.com/office/drawing/2014/main" id="{A80E4320-C4A1-BCB4-A945-9E034FE7BDD5}"/>
              </a:ext>
            </a:extLst>
          </p:cNvPr>
          <p:cNvSpPr txBox="1"/>
          <p:nvPr/>
        </p:nvSpPr>
        <p:spPr>
          <a:xfrm>
            <a:off x="4420281" y="1453201"/>
            <a:ext cx="3767074" cy="369332"/>
          </a:xfrm>
          <a:prstGeom prst="rect">
            <a:avLst/>
          </a:prstGeom>
          <a:noFill/>
        </p:spPr>
        <p:txBody>
          <a:bodyPr wrap="square" rtlCol="0">
            <a:spAutoFit/>
          </a:bodyPr>
          <a:lstStyle/>
          <a:p>
            <a:pPr algn="ctr"/>
            <a:r>
              <a:rPr lang="en-US" dirty="0">
                <a:solidFill>
                  <a:srgbClr val="1C7DDB"/>
                </a:solidFill>
                <a:latin typeface="Abadi"/>
              </a:rPr>
              <a:t>flowchart for Data wrangling</a:t>
            </a:r>
            <a:endParaRPr lang="fr-FR" dirty="0"/>
          </a:p>
        </p:txBody>
      </p:sp>
      <p:sp>
        <p:nvSpPr>
          <p:cNvPr id="5" name="Title 1">
            <a:extLst>
              <a:ext uri="{FF2B5EF4-FFF2-40B4-BE49-F238E27FC236}">
                <a16:creationId xmlns:a16="http://schemas.microsoft.com/office/drawing/2014/main" id="{563A71CE-B7C8-36A0-B30A-13FC74696D36}"/>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Wrangling</a:t>
            </a:r>
          </a:p>
        </p:txBody>
      </p:sp>
    </p:spTree>
    <p:extLst>
      <p:ext uri="{BB962C8B-B14F-4D97-AF65-F5344CB8AC3E}">
        <p14:creationId xmlns:p14="http://schemas.microsoft.com/office/powerpoint/2010/main" val="2285279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4E03D3-761E-7549-A4C6-7E585EBC4F01}"/>
              </a:ext>
            </a:extLst>
          </p:cNvPr>
          <p:cNvSpPr>
            <a:spLocks noGrp="1"/>
          </p:cNvSpPr>
          <p:nvPr>
            <p:ph type="sldNum" sz="quarter" idx="12"/>
          </p:nvPr>
        </p:nvSpPr>
        <p:spPr/>
        <p:txBody>
          <a:bodyPr/>
          <a:lstStyle/>
          <a:p>
            <a:fld id="{5075537C-CA84-1446-933C-8E9D027F9201}" type="slidenum">
              <a:rPr lang="en-US" smtClean="0"/>
              <a:t>15</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01822" y="1875054"/>
            <a:ext cx="5325989" cy="4351338"/>
          </a:xfrm>
          <a:prstGeom prst="rect">
            <a:avLst/>
          </a:prstGeom>
        </p:spPr>
        <p:txBody>
          <a:bodyPr lIns="91440" tIns="45720" rIns="91440" bIns="45720" anchor="t"/>
          <a:lstStyle/>
          <a:p>
            <a:r>
              <a:rPr lang="en-US" sz="1800" dirty="0"/>
              <a:t>Flight Number vs. Payload Mass (Categorical Plot)</a:t>
            </a:r>
          </a:p>
          <a:p>
            <a:pPr marL="0" indent="0">
              <a:buNone/>
            </a:pPr>
            <a:r>
              <a:rPr lang="en-US" sz="1800" dirty="0"/>
              <a:t>To observe how </a:t>
            </a:r>
            <a:r>
              <a:rPr lang="en-US" sz="1600" dirty="0"/>
              <a:t>the</a:t>
            </a:r>
            <a:r>
              <a:rPr lang="en-US" sz="1800" dirty="0"/>
              <a:t> number of launches and payload mass relate to landing success. This helps identify trends in experience and payload handling.</a:t>
            </a:r>
          </a:p>
          <a:p>
            <a:r>
              <a:rPr lang="en-US" sz="1800" dirty="0"/>
              <a:t>Flight Number vs. Launch Site (Categorical Plot)</a:t>
            </a:r>
          </a:p>
          <a:p>
            <a:pPr marL="0" indent="0">
              <a:buNone/>
            </a:pPr>
            <a:r>
              <a:rPr lang="en-US" sz="1800" dirty="0"/>
              <a:t>To analyze if launch experience at different sites affects success rates.</a:t>
            </a:r>
          </a:p>
          <a:p>
            <a:r>
              <a:rPr lang="en-US" sz="1800" dirty="0"/>
              <a:t>Payload Mass vs. Launch Site (Categorical Plot)</a:t>
            </a:r>
          </a:p>
          <a:p>
            <a:pPr marL="0" indent="0">
              <a:buNone/>
            </a:pPr>
            <a:r>
              <a:rPr lang="en-US" sz="1800" dirty="0"/>
              <a:t>To see if certain sites handle heavier payloads and how that impacts success.</a:t>
            </a:r>
          </a:p>
          <a:p>
            <a:r>
              <a:rPr lang="en-US" sz="1800" dirty="0"/>
              <a:t>Success Rate by Orbit Type (Bar Chart)</a:t>
            </a:r>
          </a:p>
          <a:p>
            <a:pPr marL="0" indent="0">
              <a:buNone/>
            </a:pPr>
            <a:r>
              <a:rPr lang="en-US" sz="1800" dirty="0"/>
              <a:t>To compare which orbit types have higher or lower landing success rates.</a:t>
            </a:r>
          </a:p>
          <a:p>
            <a:endParaRPr lang="en-US" sz="1800" dirty="0"/>
          </a:p>
        </p:txBody>
      </p:sp>
      <p:sp>
        <p:nvSpPr>
          <p:cNvPr id="3" name="Title 1">
            <a:extLst>
              <a:ext uri="{FF2B5EF4-FFF2-40B4-BE49-F238E27FC236}">
                <a16:creationId xmlns:a16="http://schemas.microsoft.com/office/drawing/2014/main" id="{D9E97D81-A978-4758-8A93-47C19B10407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Data Visualization</a:t>
            </a:r>
          </a:p>
        </p:txBody>
      </p:sp>
      <p:sp>
        <p:nvSpPr>
          <p:cNvPr id="9" name="ZoneTexte 8">
            <a:extLst>
              <a:ext uri="{FF2B5EF4-FFF2-40B4-BE49-F238E27FC236}">
                <a16:creationId xmlns:a16="http://schemas.microsoft.com/office/drawing/2014/main" id="{407F781F-1E70-D4A0-4C89-972128C0274E}"/>
              </a:ext>
            </a:extLst>
          </p:cNvPr>
          <p:cNvSpPr txBox="1"/>
          <p:nvPr/>
        </p:nvSpPr>
        <p:spPr>
          <a:xfrm>
            <a:off x="6180211" y="1859339"/>
            <a:ext cx="5105400" cy="3139321"/>
          </a:xfrm>
          <a:prstGeom prst="rect">
            <a:avLst/>
          </a:prstGeom>
          <a:noFill/>
        </p:spPr>
        <p:txBody>
          <a:bodyPr wrap="square" rtlCol="0">
            <a:spAutoFit/>
          </a:bodyPr>
          <a:lstStyle/>
          <a:p>
            <a:pPr marL="285750" indent="-285750">
              <a:buFont typeface="Arial" panose="020B0604020202020204" pitchFamily="34" charset="0"/>
              <a:buChar char="•"/>
            </a:pPr>
            <a:r>
              <a:rPr lang="en-US" dirty="0"/>
              <a:t>Flight Number vs. Orbit Type (Scatter Plot)</a:t>
            </a:r>
          </a:p>
          <a:p>
            <a:r>
              <a:rPr lang="en-US" dirty="0"/>
              <a:t>To explore if experience (flight number) impacts success for different orbits.</a:t>
            </a:r>
          </a:p>
          <a:p>
            <a:endParaRPr lang="en-US" dirty="0"/>
          </a:p>
          <a:p>
            <a:pPr marL="285750" indent="-285750">
              <a:buFont typeface="Arial" panose="020B0604020202020204" pitchFamily="34" charset="0"/>
              <a:buChar char="•"/>
            </a:pPr>
            <a:r>
              <a:rPr lang="en-US" dirty="0"/>
              <a:t>Payload Mass vs. Orbit Type (Scatter Plot)</a:t>
            </a:r>
          </a:p>
          <a:p>
            <a:r>
              <a:rPr lang="en-US" dirty="0"/>
              <a:t>To examine the relationship between payload mass and success across orbit types.</a:t>
            </a:r>
          </a:p>
          <a:p>
            <a:endParaRPr lang="en-US" dirty="0"/>
          </a:p>
          <a:p>
            <a:pPr marL="285750" indent="-285750">
              <a:buFont typeface="Arial" panose="020B0604020202020204" pitchFamily="34" charset="0"/>
              <a:buChar char="•"/>
            </a:pPr>
            <a:r>
              <a:rPr lang="en-US" dirty="0"/>
              <a:t>Yearly Success Rate Trend (Line Plot)</a:t>
            </a:r>
          </a:p>
          <a:p>
            <a:r>
              <a:rPr lang="en-US" dirty="0"/>
              <a:t>To visualize how the overall success rate has changed over time.</a:t>
            </a:r>
          </a:p>
        </p:txBody>
      </p:sp>
      <p:sp>
        <p:nvSpPr>
          <p:cNvPr id="2" name="ZoneTexte 1">
            <a:extLst>
              <a:ext uri="{FF2B5EF4-FFF2-40B4-BE49-F238E27FC236}">
                <a16:creationId xmlns:a16="http://schemas.microsoft.com/office/drawing/2014/main" id="{1274A090-BDCF-115A-63DA-AEADAAA1390C}"/>
              </a:ext>
            </a:extLst>
          </p:cNvPr>
          <p:cNvSpPr txBox="1"/>
          <p:nvPr/>
        </p:nvSpPr>
        <p:spPr>
          <a:xfrm>
            <a:off x="701822" y="1250544"/>
            <a:ext cx="5712425" cy="461665"/>
          </a:xfrm>
          <a:prstGeom prst="rect">
            <a:avLst/>
          </a:prstGeom>
          <a:noFill/>
        </p:spPr>
        <p:txBody>
          <a:bodyPr wrap="square" rtlCol="0">
            <a:spAutoFit/>
          </a:bodyPr>
          <a:lstStyle/>
          <a:p>
            <a:r>
              <a:rPr lang="fr-FR" sz="2400" b="1" u="sng" dirty="0"/>
              <a:t>Charts </a:t>
            </a:r>
            <a:r>
              <a:rPr lang="fr-FR" sz="2400" b="1" u="sng" dirty="0" err="1"/>
              <a:t>plotted</a:t>
            </a:r>
            <a:r>
              <a:rPr lang="fr-FR" sz="2400" b="1" u="sng" dirty="0"/>
              <a:t> :</a:t>
            </a:r>
          </a:p>
        </p:txBody>
      </p:sp>
    </p:spTree>
    <p:extLst>
      <p:ext uri="{BB962C8B-B14F-4D97-AF65-F5344CB8AC3E}">
        <p14:creationId xmlns:p14="http://schemas.microsoft.com/office/powerpoint/2010/main" val="779971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FC91F070-8DCF-A9CD-8378-B52635C8C84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AD2C490-C8DD-3FA1-8C02-C8FDA59D2015}"/>
              </a:ext>
            </a:extLst>
          </p:cNvPr>
          <p:cNvSpPr>
            <a:spLocks noGrp="1"/>
          </p:cNvSpPr>
          <p:nvPr>
            <p:ph type="sldNum" sz="quarter" idx="12"/>
          </p:nvPr>
        </p:nvSpPr>
        <p:spPr/>
        <p:txBody>
          <a:bodyPr/>
          <a:lstStyle/>
          <a:p>
            <a:fld id="{5075537C-CA84-1446-933C-8E9D027F9201}" type="slidenum">
              <a:rPr lang="en-US" smtClean="0"/>
              <a:t>16</a:t>
            </a:fld>
            <a:endParaRPr lang="en-US" dirty="0"/>
          </a:p>
        </p:txBody>
      </p:sp>
      <p:sp>
        <p:nvSpPr>
          <p:cNvPr id="3" name="Title 1">
            <a:extLst>
              <a:ext uri="{FF2B5EF4-FFF2-40B4-BE49-F238E27FC236}">
                <a16:creationId xmlns:a16="http://schemas.microsoft.com/office/drawing/2014/main" id="{CCE5F30D-EF5D-AE54-6025-C95A2027C371}"/>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Data Visualization</a:t>
            </a:r>
          </a:p>
        </p:txBody>
      </p:sp>
      <p:sp>
        <p:nvSpPr>
          <p:cNvPr id="2" name="Text Placeholder 2">
            <a:extLst>
              <a:ext uri="{FF2B5EF4-FFF2-40B4-BE49-F238E27FC236}">
                <a16:creationId xmlns:a16="http://schemas.microsoft.com/office/drawing/2014/main" id="{FD8BCEE0-648C-1D7A-64D8-CF71666B4769}"/>
              </a:ext>
            </a:extLst>
          </p:cNvPr>
          <p:cNvSpPr txBox="1">
            <a:spLocks/>
          </p:cNvSpPr>
          <p:nvPr/>
        </p:nvSpPr>
        <p:spPr>
          <a:xfrm>
            <a:off x="2474475" y="2115089"/>
            <a:ext cx="7106672" cy="2120735"/>
          </a:xfrm>
          <a:prstGeom prst="rect">
            <a:avLst/>
          </a:prstGeom>
          <a:ln>
            <a:solidFill>
              <a:schemeClr val="accent1"/>
            </a:solidFill>
          </a:ln>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GitHub URL of the completed EDA with data visualization notebook :</a:t>
            </a:r>
          </a:p>
          <a:p>
            <a:pPr>
              <a:lnSpc>
                <a:spcPct val="100000"/>
              </a:lnSpc>
              <a:spcBef>
                <a:spcPts val="1400"/>
              </a:spcBef>
            </a:pPr>
            <a:r>
              <a:rPr lang="en-US" sz="2200" dirty="0">
                <a:solidFill>
                  <a:schemeClr val="accent3">
                    <a:lumMod val="25000"/>
                  </a:schemeClr>
                </a:solidFill>
                <a:latin typeface="Abadi" panose="020B0604020104020204" pitchFamily="34" charset="0"/>
                <a:hlinkClick r:id="rId3"/>
              </a:rPr>
              <a:t>https://github.com/MamadyMagass/Applied-Data-Science-Capstone-IBM/blob/main/week_2/jupyter-labs-eda-dataviz-v2.ipynb</a:t>
            </a:r>
            <a:endParaRPr lang="en-US" sz="2200" dirty="0">
              <a:solidFill>
                <a:schemeClr val="accent3">
                  <a:lumMod val="25000"/>
                </a:schemeClr>
              </a:solidFill>
              <a:latin typeface="Abadi" panose="020B0604020104020204" pitchFamily="34" charset="0"/>
            </a:endParaRPr>
          </a:p>
        </p:txBody>
      </p:sp>
    </p:spTree>
    <p:extLst>
      <p:ext uri="{BB962C8B-B14F-4D97-AF65-F5344CB8AC3E}">
        <p14:creationId xmlns:p14="http://schemas.microsoft.com/office/powerpoint/2010/main" val="4219616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7B1B70-690D-5945-90C2-196E1304B45D}"/>
              </a:ext>
            </a:extLst>
          </p:cNvPr>
          <p:cNvSpPr>
            <a:spLocks noGrp="1"/>
          </p:cNvSpPr>
          <p:nvPr>
            <p:ph type="sldNum" sz="quarter" idx="12"/>
          </p:nvPr>
        </p:nvSpPr>
        <p:spPr/>
        <p:txBody>
          <a:bodyPr/>
          <a:lstStyle/>
          <a:p>
            <a:fld id="{5075537C-CA84-1446-933C-8E9D027F9201}" type="slidenum">
              <a:rPr lang="en-US" smtClean="0"/>
              <a:t>17</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968012"/>
            <a:ext cx="9745589" cy="4351338"/>
          </a:xfrm>
          <a:prstGeom prst="rect">
            <a:avLst/>
          </a:prstGeom>
        </p:spPr>
        <p:txBody>
          <a:bodyPr lIns="91440" tIns="45720" rIns="91440" bIns="45720" anchor="t"/>
          <a:lstStyle/>
          <a:p>
            <a:pPr>
              <a:lnSpc>
                <a:spcPct val="100000"/>
              </a:lnSpc>
              <a:spcBef>
                <a:spcPts val="1400"/>
              </a:spcBef>
            </a:pPr>
            <a:r>
              <a:rPr lang="en-US" sz="2200" dirty="0">
                <a:solidFill>
                  <a:schemeClr val="accent3">
                    <a:lumMod val="25000"/>
                  </a:schemeClr>
                </a:solidFill>
                <a:latin typeface="Abadi"/>
              </a:rPr>
              <a:t>Selected unique launch site names from the missions.</a:t>
            </a:r>
          </a:p>
          <a:p>
            <a:pPr>
              <a:lnSpc>
                <a:spcPct val="100000"/>
              </a:lnSpc>
              <a:spcBef>
                <a:spcPts val="1400"/>
              </a:spcBef>
            </a:pPr>
            <a:r>
              <a:rPr lang="en-US" sz="2200" dirty="0">
                <a:solidFill>
                  <a:schemeClr val="accent3">
                    <a:lumMod val="25000"/>
                  </a:schemeClr>
                </a:solidFill>
                <a:latin typeface="Abadi"/>
              </a:rPr>
              <a:t>Displayed 5 records where launch sites begin with 'CCA'.</a:t>
            </a:r>
          </a:p>
          <a:p>
            <a:pPr>
              <a:lnSpc>
                <a:spcPct val="100000"/>
              </a:lnSpc>
              <a:spcBef>
                <a:spcPts val="1400"/>
              </a:spcBef>
            </a:pPr>
            <a:r>
              <a:rPr lang="en-US" sz="2200" dirty="0">
                <a:solidFill>
                  <a:schemeClr val="accent3">
                    <a:lumMod val="25000"/>
                  </a:schemeClr>
                </a:solidFill>
                <a:latin typeface="Abadi"/>
              </a:rPr>
              <a:t>Calculated the total payload mass for boosters launched by NASA (CRS).</a:t>
            </a:r>
          </a:p>
          <a:p>
            <a:pPr>
              <a:lnSpc>
                <a:spcPct val="100000"/>
              </a:lnSpc>
              <a:spcBef>
                <a:spcPts val="1400"/>
              </a:spcBef>
            </a:pPr>
            <a:r>
              <a:rPr lang="en-US" sz="2200" dirty="0">
                <a:solidFill>
                  <a:schemeClr val="accent3">
                    <a:lumMod val="25000"/>
                  </a:schemeClr>
                </a:solidFill>
                <a:latin typeface="Abadi"/>
              </a:rPr>
              <a:t>Computed the average payload mass for booster version F9 v1.1.</a:t>
            </a:r>
          </a:p>
          <a:p>
            <a:pPr>
              <a:lnSpc>
                <a:spcPct val="100000"/>
              </a:lnSpc>
              <a:spcBef>
                <a:spcPts val="1400"/>
              </a:spcBef>
            </a:pPr>
            <a:r>
              <a:rPr lang="en-US" sz="2200" dirty="0">
                <a:solidFill>
                  <a:schemeClr val="accent3">
                    <a:lumMod val="25000"/>
                  </a:schemeClr>
                </a:solidFill>
                <a:latin typeface="Abadi"/>
              </a:rPr>
              <a:t>Found the date of the first successful ground pad landing.</a:t>
            </a:r>
          </a:p>
          <a:p>
            <a:pPr>
              <a:lnSpc>
                <a:spcPct val="100000"/>
              </a:lnSpc>
              <a:spcBef>
                <a:spcPts val="1400"/>
              </a:spcBef>
            </a:pPr>
            <a:r>
              <a:rPr lang="en-US" sz="2200" dirty="0">
                <a:solidFill>
                  <a:schemeClr val="accent3">
                    <a:lumMod val="25000"/>
                  </a:schemeClr>
                </a:solidFill>
                <a:latin typeface="Abadi"/>
              </a:rPr>
              <a:t>Listed booster versions with successful drone ship landings and payload mass between 4000 and 6000 kg.</a:t>
            </a:r>
          </a:p>
          <a:p>
            <a:pPr>
              <a:lnSpc>
                <a:spcPct val="100000"/>
              </a:lnSpc>
              <a:spcBef>
                <a:spcPts val="1400"/>
              </a:spcBef>
            </a:pPr>
            <a:r>
              <a:rPr lang="en-US" sz="2200" dirty="0">
                <a:solidFill>
                  <a:schemeClr val="accent3">
                    <a:lumMod val="25000"/>
                  </a:schemeClr>
                </a:solidFill>
                <a:latin typeface="Abadi"/>
              </a:rPr>
              <a:t>Counted the total number of successful and failed mission outcomes.</a:t>
            </a:r>
          </a:p>
          <a:p>
            <a:endParaRPr lang="en-US" dirty="0"/>
          </a:p>
          <a:p>
            <a:endParaRPr lang="en-US" dirty="0"/>
          </a:p>
          <a:p>
            <a:endParaRPr lang="en-US" dirty="0"/>
          </a:p>
        </p:txBody>
      </p:sp>
      <p:sp>
        <p:nvSpPr>
          <p:cNvPr id="3" name="Title 1">
            <a:extLst>
              <a:ext uri="{FF2B5EF4-FFF2-40B4-BE49-F238E27FC236}">
                <a16:creationId xmlns:a16="http://schemas.microsoft.com/office/drawing/2014/main" id="{32405FDA-CB27-4506-BA80-B7DD00CB25C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SQL</a:t>
            </a:r>
            <a:endParaRPr lang="en-US" dirty="0">
              <a:solidFill>
                <a:srgbClr val="0B49CB"/>
              </a:solidFill>
            </a:endParaRPr>
          </a:p>
        </p:txBody>
      </p:sp>
      <p:sp>
        <p:nvSpPr>
          <p:cNvPr id="2" name="ZoneTexte 1">
            <a:extLst>
              <a:ext uri="{FF2B5EF4-FFF2-40B4-BE49-F238E27FC236}">
                <a16:creationId xmlns:a16="http://schemas.microsoft.com/office/drawing/2014/main" id="{35860B58-E448-05E6-99F6-AA632740E9B2}"/>
              </a:ext>
            </a:extLst>
          </p:cNvPr>
          <p:cNvSpPr txBox="1"/>
          <p:nvPr/>
        </p:nvSpPr>
        <p:spPr>
          <a:xfrm>
            <a:off x="927847" y="1331259"/>
            <a:ext cx="6199094" cy="461665"/>
          </a:xfrm>
          <a:prstGeom prst="rect">
            <a:avLst/>
          </a:prstGeom>
          <a:noFill/>
        </p:spPr>
        <p:txBody>
          <a:bodyPr wrap="square" rtlCol="0">
            <a:spAutoFit/>
          </a:bodyPr>
          <a:lstStyle/>
          <a:p>
            <a:r>
              <a:rPr lang="fr-FR" sz="2400" b="1" u="sng" dirty="0"/>
              <a:t>SQL </a:t>
            </a:r>
            <a:r>
              <a:rPr lang="fr-FR" sz="2400" b="1" u="sng" dirty="0" err="1"/>
              <a:t>queries</a:t>
            </a:r>
            <a:r>
              <a:rPr lang="fr-FR" sz="2400" b="1" u="sng" dirty="0"/>
              <a:t> </a:t>
            </a:r>
            <a:r>
              <a:rPr lang="fr-FR" sz="2400" b="1" u="sng" dirty="0" err="1"/>
              <a:t>performed</a:t>
            </a:r>
            <a:r>
              <a:rPr lang="fr-FR" sz="2400" b="1" u="sng" dirty="0"/>
              <a:t> :</a:t>
            </a:r>
          </a:p>
        </p:txBody>
      </p:sp>
    </p:spTree>
    <p:extLst>
      <p:ext uri="{BB962C8B-B14F-4D97-AF65-F5344CB8AC3E}">
        <p14:creationId xmlns:p14="http://schemas.microsoft.com/office/powerpoint/2010/main" val="1578726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77D31E9E-2AA5-7753-E71B-C7E5A14CE23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D8CB41F-ABCD-3CC6-0B07-27C4F3538397}"/>
              </a:ext>
            </a:extLst>
          </p:cNvPr>
          <p:cNvSpPr>
            <a:spLocks noGrp="1"/>
          </p:cNvSpPr>
          <p:nvPr>
            <p:ph type="sldNum" sz="quarter" idx="12"/>
          </p:nvPr>
        </p:nvSpPr>
        <p:spPr/>
        <p:txBody>
          <a:bodyPr/>
          <a:lstStyle/>
          <a:p>
            <a:fld id="{5075537C-CA84-1446-933C-8E9D027F9201}" type="slidenum">
              <a:rPr lang="en-US" smtClean="0"/>
              <a:t>18</a:t>
            </a:fld>
            <a:endParaRPr lang="en-US" dirty="0"/>
          </a:p>
        </p:txBody>
      </p:sp>
      <p:sp>
        <p:nvSpPr>
          <p:cNvPr id="5" name="Content Placeholder 4">
            <a:extLst>
              <a:ext uri="{FF2B5EF4-FFF2-40B4-BE49-F238E27FC236}">
                <a16:creationId xmlns:a16="http://schemas.microsoft.com/office/drawing/2014/main" id="{4A06DF57-6594-A581-71C3-0D4C1C3FEF60}"/>
              </a:ext>
            </a:extLst>
          </p:cNvPr>
          <p:cNvSpPr>
            <a:spLocks noGrp="1"/>
          </p:cNvSpPr>
          <p:nvPr>
            <p:ph idx="4294967295"/>
          </p:nvPr>
        </p:nvSpPr>
        <p:spPr>
          <a:xfrm>
            <a:off x="770010" y="1806575"/>
            <a:ext cx="9745589" cy="2604060"/>
          </a:xfrm>
          <a:prstGeom prst="rect">
            <a:avLst/>
          </a:prstGeom>
        </p:spPr>
        <p:txBody>
          <a:bodyPr lIns="91440" tIns="45720" rIns="91440" bIns="45720" anchor="t"/>
          <a:lstStyle/>
          <a:p>
            <a:pPr>
              <a:lnSpc>
                <a:spcPct val="100000"/>
              </a:lnSpc>
              <a:spcBef>
                <a:spcPts val="1400"/>
              </a:spcBef>
            </a:pPr>
            <a:r>
              <a:rPr lang="en-US" sz="2200" dirty="0">
                <a:solidFill>
                  <a:schemeClr val="accent3">
                    <a:lumMod val="25000"/>
                  </a:schemeClr>
                </a:solidFill>
                <a:latin typeface="Abadi"/>
              </a:rPr>
              <a:t>Identified booster versions that carried the maximum payload mass using a subquery.</a:t>
            </a:r>
          </a:p>
          <a:p>
            <a:pPr>
              <a:lnSpc>
                <a:spcPct val="100000"/>
              </a:lnSpc>
              <a:spcBef>
                <a:spcPts val="1400"/>
              </a:spcBef>
            </a:pPr>
            <a:r>
              <a:rPr lang="en-US" sz="2200" dirty="0">
                <a:solidFill>
                  <a:schemeClr val="accent3">
                    <a:lumMod val="25000"/>
                  </a:schemeClr>
                </a:solidFill>
                <a:latin typeface="Abadi"/>
              </a:rPr>
              <a:t>Displayed records of failed drone ship landings in 2015, including month, booster version, and launch site.</a:t>
            </a:r>
          </a:p>
          <a:p>
            <a:pPr>
              <a:lnSpc>
                <a:spcPct val="100000"/>
              </a:lnSpc>
              <a:spcBef>
                <a:spcPts val="1400"/>
              </a:spcBef>
            </a:pPr>
            <a:r>
              <a:rPr lang="en-US" sz="2200" dirty="0">
                <a:solidFill>
                  <a:schemeClr val="accent3">
                    <a:lumMod val="25000"/>
                  </a:schemeClr>
                </a:solidFill>
                <a:latin typeface="Abadi"/>
              </a:rPr>
              <a:t>Ranked landing outcomes by count for missions between 2010-06-04 and 2017-03-20.</a:t>
            </a:r>
            <a:endParaRPr lang="en-US" dirty="0"/>
          </a:p>
          <a:p>
            <a:endParaRPr lang="en-US" dirty="0"/>
          </a:p>
          <a:p>
            <a:endParaRPr lang="en-US" dirty="0"/>
          </a:p>
        </p:txBody>
      </p:sp>
      <p:sp>
        <p:nvSpPr>
          <p:cNvPr id="3" name="Title 1">
            <a:extLst>
              <a:ext uri="{FF2B5EF4-FFF2-40B4-BE49-F238E27FC236}">
                <a16:creationId xmlns:a16="http://schemas.microsoft.com/office/drawing/2014/main" id="{26FC8F93-EA6F-B01C-68DF-6561703EBB1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SQL</a:t>
            </a:r>
            <a:endParaRPr lang="en-US" dirty="0">
              <a:solidFill>
                <a:srgbClr val="0B49CB"/>
              </a:solidFill>
            </a:endParaRPr>
          </a:p>
        </p:txBody>
      </p:sp>
      <p:sp>
        <p:nvSpPr>
          <p:cNvPr id="2" name="Text Placeholder 2">
            <a:extLst>
              <a:ext uri="{FF2B5EF4-FFF2-40B4-BE49-F238E27FC236}">
                <a16:creationId xmlns:a16="http://schemas.microsoft.com/office/drawing/2014/main" id="{5560B474-8E0C-E193-8D52-9092E305D0C4}"/>
              </a:ext>
            </a:extLst>
          </p:cNvPr>
          <p:cNvSpPr txBox="1">
            <a:spLocks/>
          </p:cNvSpPr>
          <p:nvPr/>
        </p:nvSpPr>
        <p:spPr>
          <a:xfrm>
            <a:off x="2089468" y="4693488"/>
            <a:ext cx="7106672" cy="1733723"/>
          </a:xfrm>
          <a:prstGeom prst="rect">
            <a:avLst/>
          </a:prstGeom>
          <a:ln>
            <a:solidFill>
              <a:schemeClr val="accent1"/>
            </a:solidFill>
          </a:ln>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GitHub URL of the completed EDA with SQL:</a:t>
            </a:r>
          </a:p>
        </p:txBody>
      </p:sp>
    </p:spTree>
    <p:extLst>
      <p:ext uri="{BB962C8B-B14F-4D97-AF65-F5344CB8AC3E}">
        <p14:creationId xmlns:p14="http://schemas.microsoft.com/office/powerpoint/2010/main" val="21971681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19</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838200" y="1875054"/>
            <a:ext cx="10515600"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Summarize what map objects such as markers, circles, lines, etc. you created and added to a folium map</a:t>
            </a:r>
          </a:p>
          <a:p>
            <a:pPr>
              <a:lnSpc>
                <a:spcPct val="100000"/>
              </a:lnSpc>
              <a:spcBef>
                <a:spcPts val="1400"/>
              </a:spcBef>
            </a:pPr>
            <a:r>
              <a:rPr lang="en-US" sz="2200" dirty="0">
                <a:solidFill>
                  <a:schemeClr val="accent3">
                    <a:lumMod val="25000"/>
                  </a:schemeClr>
                </a:solidFill>
                <a:latin typeface="Abadi" panose="020B0604020104020204" pitchFamily="34" charset="0"/>
              </a:rPr>
              <a:t>Explain why you added those objects</a:t>
            </a:r>
          </a:p>
          <a:p>
            <a:pPr>
              <a:lnSpc>
                <a:spcPct val="100000"/>
              </a:lnSpc>
              <a:spcBef>
                <a:spcPts val="1400"/>
              </a:spcBef>
            </a:pPr>
            <a:r>
              <a:rPr lang="en-US" sz="2200" dirty="0">
                <a:solidFill>
                  <a:schemeClr val="accent3">
                    <a:lumMod val="25000"/>
                  </a:schemeClr>
                </a:solidFill>
                <a:latin typeface="Abadi" panose="020B0604020104020204" pitchFamily="34" charset="0"/>
              </a:rPr>
              <a:t>Add the GitHub URL of your completed interactive map with Folium map, as an external reference and peer-review purpose</a:t>
            </a:r>
          </a:p>
          <a:p>
            <a:endParaRPr lang="en-US" dirty="0"/>
          </a:p>
          <a:p>
            <a:endParaRPr lang="en-US" dirty="0"/>
          </a:p>
        </p:txBody>
      </p:sp>
      <p:sp>
        <p:nvSpPr>
          <p:cNvPr id="3" name="Title 1">
            <a:extLst>
              <a:ext uri="{FF2B5EF4-FFF2-40B4-BE49-F238E27FC236}">
                <a16:creationId xmlns:a16="http://schemas.microsoft.com/office/drawing/2014/main" id="{B28946E4-5BEF-46F0-A56A-E7E85ACA148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an Interactive Map with Folium</a:t>
            </a:r>
            <a:endParaRPr lang="en-US" dirty="0">
              <a:solidFill>
                <a:srgbClr val="0B49CB"/>
              </a:solidFill>
            </a:endParaRPr>
          </a:p>
        </p:txBody>
      </p:sp>
    </p:spTree>
    <p:extLst>
      <p:ext uri="{BB962C8B-B14F-4D97-AF65-F5344CB8AC3E}">
        <p14:creationId xmlns:p14="http://schemas.microsoft.com/office/powerpoint/2010/main" val="1481143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20</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vert="horz" lIns="91440" tIns="45720" rIns="91440" bIns="45720" rtlCol="0" anchor="t">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Summarize what plots/graphs and interactions you have added to a dashboard</a:t>
            </a:r>
          </a:p>
          <a:p>
            <a:pPr>
              <a:lnSpc>
                <a:spcPct val="100000"/>
              </a:lnSpc>
              <a:spcBef>
                <a:spcPts val="1400"/>
              </a:spcBef>
            </a:pPr>
            <a:r>
              <a:rPr lang="en-US" sz="2200" dirty="0">
                <a:solidFill>
                  <a:schemeClr val="accent3">
                    <a:lumMod val="25000"/>
                  </a:schemeClr>
                </a:solidFill>
                <a:latin typeface="Abadi" panose="020B0604020104020204" pitchFamily="34" charset="0"/>
              </a:rPr>
              <a:t>Explain why you added those plots and interactions</a:t>
            </a:r>
          </a:p>
          <a:p>
            <a:pPr>
              <a:lnSpc>
                <a:spcPct val="100000"/>
              </a:lnSpc>
              <a:spcBef>
                <a:spcPts val="1400"/>
              </a:spcBef>
            </a:pPr>
            <a:r>
              <a:rPr lang="en-US" sz="2200" dirty="0">
                <a:solidFill>
                  <a:schemeClr val="accent3">
                    <a:lumMod val="25000"/>
                  </a:schemeClr>
                </a:solidFill>
                <a:latin typeface="Abadi" panose="020B0604020104020204" pitchFamily="34" charset="0"/>
              </a:rPr>
              <a:t>Add the GitHub URL of your completed </a:t>
            </a:r>
            <a:r>
              <a:rPr lang="en-US" sz="2200" dirty="0" err="1">
                <a:solidFill>
                  <a:schemeClr val="accent3">
                    <a:lumMod val="25000"/>
                  </a:schemeClr>
                </a:solidFill>
                <a:latin typeface="Abadi" panose="020B0604020104020204" pitchFamily="34" charset="0"/>
              </a:rPr>
              <a:t>Plotly</a:t>
            </a:r>
            <a:r>
              <a:rPr lang="en-US" sz="2200" dirty="0">
                <a:solidFill>
                  <a:schemeClr val="accent3">
                    <a:lumMod val="25000"/>
                  </a:schemeClr>
                </a:solidFill>
                <a:latin typeface="Abadi" panose="020B0604020104020204" pitchFamily="34" charset="0"/>
              </a:rPr>
              <a:t> Dash lab, as an external reference and peer-review purpose</a:t>
            </a:r>
          </a:p>
          <a:p>
            <a:endParaRPr lang="en-US" dirty="0"/>
          </a:p>
        </p:txBody>
      </p:sp>
      <p:sp>
        <p:nvSpPr>
          <p:cNvPr id="3" name="Title 1">
            <a:extLst>
              <a:ext uri="{FF2B5EF4-FFF2-40B4-BE49-F238E27FC236}">
                <a16:creationId xmlns:a16="http://schemas.microsoft.com/office/drawing/2014/main" id="{519FC08B-7D2E-43A5-A528-821DCDCCCC8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 Dashboard with </a:t>
            </a:r>
            <a:r>
              <a:rPr lang="en-US" dirty="0" err="1">
                <a:solidFill>
                  <a:srgbClr val="0B49CB"/>
                </a:solidFill>
                <a:latin typeface="Abadi"/>
              </a:rPr>
              <a:t>Plotly</a:t>
            </a:r>
            <a:r>
              <a:rPr lang="en-US" dirty="0">
                <a:solidFill>
                  <a:srgbClr val="0B49CB"/>
                </a:solidFill>
                <a:latin typeface="Abadi"/>
              </a:rPr>
              <a:t> Dash</a:t>
            </a:r>
          </a:p>
        </p:txBody>
      </p:sp>
    </p:spTree>
    <p:extLst>
      <p:ext uri="{BB962C8B-B14F-4D97-AF65-F5344CB8AC3E}">
        <p14:creationId xmlns:p14="http://schemas.microsoft.com/office/powerpoint/2010/main" val="334532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1B08F2-C4AD-A440-BB78-A0625E28887A}"/>
              </a:ext>
            </a:extLst>
          </p:cNvPr>
          <p:cNvSpPr>
            <a:spLocks noGrp="1"/>
          </p:cNvSpPr>
          <p:nvPr>
            <p:ph type="sldNum" sz="quarter" idx="12"/>
          </p:nvPr>
        </p:nvSpPr>
        <p:spPr/>
        <p:txBody>
          <a:bodyPr/>
          <a:lstStyle/>
          <a:p>
            <a:fld id="{5075537C-CA84-1446-933C-8E9D027F9201}" type="slidenum">
              <a:rPr lang="en-US" smtClean="0"/>
              <a:t>21</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Summarize how you built, evaluated, improved, and found the best performing classification model</a:t>
            </a:r>
          </a:p>
          <a:p>
            <a:pPr>
              <a:lnSpc>
                <a:spcPct val="100000"/>
              </a:lnSpc>
              <a:spcBef>
                <a:spcPts val="1400"/>
              </a:spcBef>
            </a:pPr>
            <a:r>
              <a:rPr lang="en-US" sz="2200" dirty="0">
                <a:solidFill>
                  <a:schemeClr val="accent3">
                    <a:lumMod val="25000"/>
                  </a:schemeClr>
                </a:solidFill>
                <a:latin typeface="Abadi" panose="020B0604020104020204" pitchFamily="34" charset="0"/>
              </a:rPr>
              <a:t>You need present your model development process using key phrases and flowchart</a:t>
            </a:r>
          </a:p>
          <a:p>
            <a:pPr>
              <a:lnSpc>
                <a:spcPct val="100000"/>
              </a:lnSpc>
              <a:spcBef>
                <a:spcPts val="1400"/>
              </a:spcBef>
            </a:pPr>
            <a:r>
              <a:rPr lang="en-US" sz="2200" dirty="0">
                <a:solidFill>
                  <a:schemeClr val="accent3">
                    <a:lumMod val="25000"/>
                  </a:schemeClr>
                </a:solidFill>
                <a:latin typeface="Abadi" panose="020B0604020104020204" pitchFamily="34" charset="0"/>
              </a:rPr>
              <a:t>Add the GitHub URL of your completed predictive analysis lab, as an external reference and peer-review purpose</a:t>
            </a:r>
          </a:p>
          <a:p>
            <a:endParaRPr lang="en-US" dirty="0"/>
          </a:p>
        </p:txBody>
      </p:sp>
      <p:sp>
        <p:nvSpPr>
          <p:cNvPr id="3" name="Title 1">
            <a:extLst>
              <a:ext uri="{FF2B5EF4-FFF2-40B4-BE49-F238E27FC236}">
                <a16:creationId xmlns:a16="http://schemas.microsoft.com/office/drawing/2014/main" id="{FC857EDD-A3A7-434D-B8D5-401E872498D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Predictive Analysis (Classification)</a:t>
            </a:r>
          </a:p>
        </p:txBody>
      </p:sp>
    </p:spTree>
    <p:extLst>
      <p:ext uri="{BB962C8B-B14F-4D97-AF65-F5344CB8AC3E}">
        <p14:creationId xmlns:p14="http://schemas.microsoft.com/office/powerpoint/2010/main" val="18137112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a:extLst>
            <a:ext uri="{FF2B5EF4-FFF2-40B4-BE49-F238E27FC236}">
              <a16:creationId xmlns:a16="http://schemas.microsoft.com/office/drawing/2014/main" id="{1395F65A-7DAB-0C7C-1314-25382ECC0C24}"/>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3505E505-EDDD-7614-6041-F68B3C845856}"/>
              </a:ext>
            </a:extLst>
          </p:cNvPr>
          <p:cNvSpPr txBox="1">
            <a:spLocks/>
          </p:cNvSpPr>
          <p:nvPr/>
        </p:nvSpPr>
        <p:spPr>
          <a:xfrm>
            <a:off x="383926" y="1807336"/>
            <a:ext cx="5411394" cy="38644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Exploratory data analysis results</a:t>
            </a:r>
          </a:p>
          <a:p>
            <a:pPr lvl="1">
              <a:lnSpc>
                <a:spcPct val="100000"/>
              </a:lnSpc>
              <a:spcBef>
                <a:spcPts val="1400"/>
              </a:spcBef>
            </a:pPr>
            <a:r>
              <a:rPr lang="en-US" sz="2000" dirty="0">
                <a:solidFill>
                  <a:schemeClr val="accent3">
                    <a:lumMod val="25000"/>
                  </a:schemeClr>
                </a:solidFill>
                <a:latin typeface="Abadi" panose="020B0604020104020204" pitchFamily="34" charset="0"/>
              </a:rPr>
              <a:t>Launch Site Analysis: Most launches occur at coastal sites for safety and orbital efficiency.</a:t>
            </a:r>
          </a:p>
          <a:p>
            <a:pPr lvl="1">
              <a:lnSpc>
                <a:spcPct val="100000"/>
              </a:lnSpc>
              <a:spcBef>
                <a:spcPts val="1400"/>
              </a:spcBef>
            </a:pPr>
            <a:r>
              <a:rPr lang="en-US" sz="2000" dirty="0">
                <a:solidFill>
                  <a:schemeClr val="accent3">
                    <a:lumMod val="25000"/>
                  </a:schemeClr>
                </a:solidFill>
                <a:latin typeface="Abadi" panose="020B0604020104020204" pitchFamily="34" charset="0"/>
              </a:rPr>
              <a:t>Payload Trends: Higher payloads are associated with certain booster versions and orbits.</a:t>
            </a:r>
          </a:p>
          <a:p>
            <a:pPr lvl="1">
              <a:lnSpc>
                <a:spcPct val="100000"/>
              </a:lnSpc>
              <a:spcBef>
                <a:spcPts val="1400"/>
              </a:spcBef>
            </a:pPr>
            <a:r>
              <a:rPr lang="en-US" sz="2000" dirty="0">
                <a:solidFill>
                  <a:schemeClr val="accent3">
                    <a:lumMod val="25000"/>
                  </a:schemeClr>
                </a:solidFill>
                <a:latin typeface="Abadi" panose="020B0604020104020204" pitchFamily="34" charset="0"/>
              </a:rPr>
              <a:t>Outcome Distribution: Success rates vary by site and booster version; overall success rate is high.</a:t>
            </a:r>
            <a:endParaRPr lang="en-US" sz="1800" dirty="0"/>
          </a:p>
        </p:txBody>
      </p:sp>
      <p:sp>
        <p:nvSpPr>
          <p:cNvPr id="4" name="Slide Number Placeholder 3">
            <a:extLst>
              <a:ext uri="{FF2B5EF4-FFF2-40B4-BE49-F238E27FC236}">
                <a16:creationId xmlns:a16="http://schemas.microsoft.com/office/drawing/2014/main" id="{AF8C379B-311D-E3A4-1901-E13FB68A2902}"/>
              </a:ext>
            </a:extLst>
          </p:cNvPr>
          <p:cNvSpPr>
            <a:spLocks noGrp="1"/>
          </p:cNvSpPr>
          <p:nvPr>
            <p:ph type="sldNum" sz="quarter" idx="12"/>
          </p:nvPr>
        </p:nvSpPr>
        <p:spPr/>
        <p:txBody>
          <a:bodyPr/>
          <a:lstStyle/>
          <a:p>
            <a:fld id="{5075537C-CA84-1446-933C-8E9D027F9201}" type="slidenum">
              <a:rPr lang="en-US" smtClean="0"/>
              <a:t>22</a:t>
            </a:fld>
            <a:endParaRPr lang="en-US" dirty="0"/>
          </a:p>
        </p:txBody>
      </p:sp>
      <p:sp>
        <p:nvSpPr>
          <p:cNvPr id="7" name="Title 1">
            <a:extLst>
              <a:ext uri="{FF2B5EF4-FFF2-40B4-BE49-F238E27FC236}">
                <a16:creationId xmlns:a16="http://schemas.microsoft.com/office/drawing/2014/main" id="{AC277D8E-4860-E8B9-EF6A-826009E5B7B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Results</a:t>
            </a:r>
            <a:endParaRPr lang="en-US" dirty="0">
              <a:solidFill>
                <a:srgbClr val="0B49CB"/>
              </a:solidFill>
            </a:endParaRPr>
          </a:p>
        </p:txBody>
      </p:sp>
      <p:sp>
        <p:nvSpPr>
          <p:cNvPr id="2" name="ZoneTexte 1">
            <a:extLst>
              <a:ext uri="{FF2B5EF4-FFF2-40B4-BE49-F238E27FC236}">
                <a16:creationId xmlns:a16="http://schemas.microsoft.com/office/drawing/2014/main" id="{36F38864-8A25-7D8C-6F29-E49043D1475E}"/>
              </a:ext>
            </a:extLst>
          </p:cNvPr>
          <p:cNvSpPr txBox="1"/>
          <p:nvPr/>
        </p:nvSpPr>
        <p:spPr>
          <a:xfrm>
            <a:off x="6096000" y="1807336"/>
            <a:ext cx="4945327" cy="2923877"/>
          </a:xfrm>
          <a:prstGeom prst="rect">
            <a:avLst/>
          </a:prstGeom>
          <a:noFill/>
        </p:spPr>
        <p:txBody>
          <a:bodyPr wrap="square" rtlCol="0">
            <a:spAutoFit/>
          </a:bodyPr>
          <a:lstStyle/>
          <a:p>
            <a:pPr marL="228600" indent="-228600">
              <a:spcBef>
                <a:spcPts val="1400"/>
              </a:spcBef>
              <a:buFont typeface="Arial"/>
              <a:buChar char="•"/>
            </a:pPr>
            <a:r>
              <a:rPr lang="en-US" sz="2200" dirty="0">
                <a:solidFill>
                  <a:schemeClr val="accent3">
                    <a:lumMod val="25000"/>
                  </a:schemeClr>
                </a:solidFill>
                <a:latin typeface="Abadi" panose="020B0604020104020204" pitchFamily="34" charset="0"/>
              </a:rPr>
              <a:t>Interactive analytics demo in screenshots</a:t>
            </a:r>
          </a:p>
          <a:p>
            <a:pPr marL="742950" lvl="1" indent="-285750">
              <a:buFont typeface="Arial" panose="020B0604020202020204" pitchFamily="34" charset="0"/>
              <a:buChar char="•"/>
            </a:pPr>
            <a:endParaRPr lang="en-US" sz="2000" dirty="0">
              <a:solidFill>
                <a:schemeClr val="accent3">
                  <a:lumMod val="25000"/>
                </a:schemeClr>
              </a:solidFill>
              <a:latin typeface="Abadi" panose="020B0604020104020204" pitchFamily="34" charset="0"/>
            </a:endParaRPr>
          </a:p>
          <a:p>
            <a:pPr marL="742950" lvl="1" indent="-285750">
              <a:buFont typeface="Arial" panose="020B0604020202020204" pitchFamily="34" charset="0"/>
              <a:buChar char="•"/>
            </a:pPr>
            <a:r>
              <a:rPr lang="en-US" sz="2000" dirty="0">
                <a:solidFill>
                  <a:schemeClr val="accent3">
                    <a:lumMod val="25000"/>
                  </a:schemeClr>
                </a:solidFill>
                <a:latin typeface="Abadi" panose="020B0604020104020204" pitchFamily="34" charset="0"/>
              </a:rPr>
              <a:t>Folium Map: Visualizes launch site locations and infrastructure proximity.</a:t>
            </a:r>
          </a:p>
          <a:p>
            <a:pPr marL="742950" lvl="1" indent="-285750">
              <a:buFont typeface="Arial" panose="020B0604020202020204" pitchFamily="34" charset="0"/>
              <a:buChar char="•"/>
            </a:pPr>
            <a:r>
              <a:rPr lang="en-US" sz="2000" dirty="0">
                <a:solidFill>
                  <a:schemeClr val="accent3">
                    <a:lumMod val="25000"/>
                  </a:schemeClr>
                </a:solidFill>
                <a:latin typeface="Abadi" panose="020B0604020104020204" pitchFamily="34" charset="0"/>
              </a:rPr>
              <a:t>Dash Dashboard: Allows users to filter by site and payload, updating pie and scatter charts interactively.</a:t>
            </a:r>
          </a:p>
        </p:txBody>
      </p:sp>
    </p:spTree>
    <p:extLst>
      <p:ext uri="{BB962C8B-B14F-4D97-AF65-F5344CB8AC3E}">
        <p14:creationId xmlns:p14="http://schemas.microsoft.com/office/powerpoint/2010/main" val="31513696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7B9C153-C85C-3240-8E7E-523FBC004564}"/>
              </a:ext>
            </a:extLst>
          </p:cNvPr>
          <p:cNvSpPr txBox="1">
            <a:spLocks/>
          </p:cNvSpPr>
          <p:nvPr/>
        </p:nvSpPr>
        <p:spPr>
          <a:xfrm>
            <a:off x="1261254" y="1708483"/>
            <a:ext cx="5559675" cy="39385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400" dirty="0">
                <a:solidFill>
                  <a:schemeClr val="accent3">
                    <a:lumMod val="25000"/>
                  </a:schemeClr>
                </a:solidFill>
                <a:latin typeface="Abadi" panose="020B0604020104020204" pitchFamily="34" charset="0"/>
              </a:rPr>
              <a:t>Predictive analysis results</a:t>
            </a:r>
          </a:p>
          <a:p>
            <a:pPr lvl="1">
              <a:lnSpc>
                <a:spcPct val="100000"/>
              </a:lnSpc>
              <a:spcBef>
                <a:spcPts val="1400"/>
              </a:spcBef>
            </a:pPr>
            <a:r>
              <a:rPr lang="en-US" sz="2000" dirty="0">
                <a:solidFill>
                  <a:schemeClr val="accent3">
                    <a:lumMod val="25000"/>
                  </a:schemeClr>
                </a:solidFill>
                <a:latin typeface="Abadi" panose="020B0604020104020204" pitchFamily="34" charset="0"/>
              </a:rPr>
              <a:t>Model Performance: Logistic Regression and SVM achieved ~82% accuracy.</a:t>
            </a:r>
          </a:p>
          <a:p>
            <a:pPr lvl="1">
              <a:lnSpc>
                <a:spcPct val="100000"/>
              </a:lnSpc>
              <a:spcBef>
                <a:spcPts val="1400"/>
              </a:spcBef>
            </a:pPr>
            <a:r>
              <a:rPr lang="en-US" sz="2000" dirty="0">
                <a:solidFill>
                  <a:schemeClr val="accent3">
                    <a:lumMod val="25000"/>
                  </a:schemeClr>
                </a:solidFill>
                <a:latin typeface="Abadi" panose="020B0604020104020204" pitchFamily="34" charset="0"/>
              </a:rPr>
              <a:t>Feature Importance: Payload mass, launch site, and booster version are key predictors.</a:t>
            </a:r>
          </a:p>
          <a:p>
            <a:pPr lvl="1">
              <a:lnSpc>
                <a:spcPct val="100000"/>
              </a:lnSpc>
              <a:spcBef>
                <a:spcPts val="1400"/>
              </a:spcBef>
            </a:pPr>
            <a:r>
              <a:rPr lang="en-US" sz="2000" dirty="0">
                <a:solidFill>
                  <a:schemeClr val="accent3">
                    <a:lumMod val="25000"/>
                  </a:schemeClr>
                </a:solidFill>
                <a:latin typeface="Abadi" panose="020B0604020104020204" pitchFamily="34" charset="0"/>
              </a:rPr>
              <a:t>Confusion Matrices: Showed good balance between precision and recall for success/failure classes.</a:t>
            </a:r>
          </a:p>
        </p:txBody>
      </p:sp>
      <p:sp>
        <p:nvSpPr>
          <p:cNvPr id="4" name="Slide Number Placeholder 3">
            <a:extLst>
              <a:ext uri="{FF2B5EF4-FFF2-40B4-BE49-F238E27FC236}">
                <a16:creationId xmlns:a16="http://schemas.microsoft.com/office/drawing/2014/main" id="{3D45C363-925C-9E48-86B0-27D7D36E50D6}"/>
              </a:ext>
            </a:extLst>
          </p:cNvPr>
          <p:cNvSpPr>
            <a:spLocks noGrp="1"/>
          </p:cNvSpPr>
          <p:nvPr>
            <p:ph type="sldNum" sz="quarter" idx="12"/>
          </p:nvPr>
        </p:nvSpPr>
        <p:spPr/>
        <p:txBody>
          <a:bodyPr/>
          <a:lstStyle/>
          <a:p>
            <a:fld id="{5075537C-CA84-1446-933C-8E9D027F9201}" type="slidenum">
              <a:rPr lang="en-US" smtClean="0"/>
              <a:t>23</a:t>
            </a:fld>
            <a:endParaRPr lang="en-US" dirty="0"/>
          </a:p>
        </p:txBody>
      </p:sp>
      <p:sp>
        <p:nvSpPr>
          <p:cNvPr id="7" name="Title 1">
            <a:extLst>
              <a:ext uri="{FF2B5EF4-FFF2-40B4-BE49-F238E27FC236}">
                <a16:creationId xmlns:a16="http://schemas.microsoft.com/office/drawing/2014/main" id="{330F9542-6794-4F57-BB45-868D94AD06B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Results</a:t>
            </a:r>
            <a:endParaRPr lang="en-US" dirty="0">
              <a:solidFill>
                <a:srgbClr val="0B49CB"/>
              </a:solidFill>
            </a:endParaRPr>
          </a:p>
        </p:txBody>
      </p:sp>
    </p:spTree>
    <p:extLst>
      <p:ext uri="{BB962C8B-B14F-4D97-AF65-F5344CB8AC3E}">
        <p14:creationId xmlns:p14="http://schemas.microsoft.com/office/powerpoint/2010/main" val="3210089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18B93D-8F11-6347-95EE-BF68474E5B1F}"/>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2</a:t>
            </a:r>
          </a:p>
        </p:txBody>
      </p:sp>
    </p:spTree>
    <p:extLst>
      <p:ext uri="{BB962C8B-B14F-4D97-AF65-F5344CB8AC3E}">
        <p14:creationId xmlns:p14="http://schemas.microsoft.com/office/powerpoint/2010/main" val="1782706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25</a:t>
            </a:fld>
            <a:endParaRPr lang="en-US" dirty="0"/>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864973" y="2057400"/>
            <a:ext cx="3932238" cy="381158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Show a scatter plot of Flight Number vs. Launch Site</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Show the screenshot of the scatter plot with explanations</a:t>
            </a:r>
          </a:p>
        </p:txBody>
      </p:sp>
      <p:sp>
        <p:nvSpPr>
          <p:cNvPr id="4" name="Title 1">
            <a:extLst>
              <a:ext uri="{FF2B5EF4-FFF2-40B4-BE49-F238E27FC236}">
                <a16:creationId xmlns:a16="http://schemas.microsoft.com/office/drawing/2014/main" id="{54F4FCC5-6E7E-4FF0-BE45-680EEC392C9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Launch Site</a:t>
            </a:r>
            <a:endParaRPr lang="en-US" dirty="0">
              <a:solidFill>
                <a:srgbClr val="0B49CB"/>
              </a:solidFill>
            </a:endParaRPr>
          </a:p>
        </p:txBody>
      </p:sp>
    </p:spTree>
    <p:extLst>
      <p:ext uri="{BB962C8B-B14F-4D97-AF65-F5344CB8AC3E}">
        <p14:creationId xmlns:p14="http://schemas.microsoft.com/office/powerpoint/2010/main" val="38656059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26</a:t>
            </a:fld>
            <a:endParaRPr lang="en-US" dirty="0"/>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69757"/>
            <a:ext cx="3932238" cy="381158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Show a scatter plot of Payload vs. Launch Site</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Show the screenshot of the scatter plot with explanations</a:t>
            </a:r>
          </a:p>
        </p:txBody>
      </p:sp>
      <p:sp>
        <p:nvSpPr>
          <p:cNvPr id="4" name="Title 1">
            <a:extLst>
              <a:ext uri="{FF2B5EF4-FFF2-40B4-BE49-F238E27FC236}">
                <a16:creationId xmlns:a16="http://schemas.microsoft.com/office/drawing/2014/main" id="{B6CCD949-E788-4375-9B07-478FA5684BC1}"/>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Launch Site</a:t>
            </a:r>
          </a:p>
        </p:txBody>
      </p:sp>
    </p:spTree>
    <p:extLst>
      <p:ext uri="{BB962C8B-B14F-4D97-AF65-F5344CB8AC3E}">
        <p14:creationId xmlns:p14="http://schemas.microsoft.com/office/powerpoint/2010/main" val="38697892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27</a:t>
            </a:fld>
            <a:endParaRPr lang="en-US" dirty="0"/>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82114"/>
            <a:ext cx="3932238" cy="381158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Show a bar chart for the success rate of each orbit type</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Show the screenshot of the scatter plot with explanations</a:t>
            </a:r>
          </a:p>
        </p:txBody>
      </p:sp>
      <p:sp>
        <p:nvSpPr>
          <p:cNvPr id="4" name="Title 1">
            <a:extLst>
              <a:ext uri="{FF2B5EF4-FFF2-40B4-BE49-F238E27FC236}">
                <a16:creationId xmlns:a16="http://schemas.microsoft.com/office/drawing/2014/main" id="{D4811A61-F7FB-4B19-9ED1-E0E2554A5BE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 Rate vs. Orbit Type</a:t>
            </a:r>
            <a:endParaRPr lang="en-US" dirty="0">
              <a:solidFill>
                <a:srgbClr val="0B49CB"/>
              </a:solidFill>
            </a:endParaRPr>
          </a:p>
        </p:txBody>
      </p:sp>
    </p:spTree>
    <p:extLst>
      <p:ext uri="{BB962C8B-B14F-4D97-AF65-F5344CB8AC3E}">
        <p14:creationId xmlns:p14="http://schemas.microsoft.com/office/powerpoint/2010/main" val="80090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28</a:t>
            </a:fld>
            <a:endParaRPr lang="en-US" dirty="0"/>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69756"/>
            <a:ext cx="3932238" cy="381158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Show a scatter point of Flight number vs. Orbit type</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Show the screenshot of the scatter plot with explanations</a:t>
            </a:r>
          </a:p>
        </p:txBody>
      </p:sp>
      <p:sp>
        <p:nvSpPr>
          <p:cNvPr id="4" name="Title 1">
            <a:extLst>
              <a:ext uri="{FF2B5EF4-FFF2-40B4-BE49-F238E27FC236}">
                <a16:creationId xmlns:a16="http://schemas.microsoft.com/office/drawing/2014/main" id="{021C109C-C017-4D19-928F-AED25AC3012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Orbit Type</a:t>
            </a:r>
            <a:endParaRPr lang="en-US" dirty="0">
              <a:solidFill>
                <a:srgbClr val="0B49CB"/>
              </a:solidFill>
            </a:endParaRPr>
          </a:p>
        </p:txBody>
      </p:sp>
    </p:spTree>
    <p:extLst>
      <p:ext uri="{BB962C8B-B14F-4D97-AF65-F5344CB8AC3E}">
        <p14:creationId xmlns:p14="http://schemas.microsoft.com/office/powerpoint/2010/main" val="11067275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29</a:t>
            </a:fld>
            <a:endParaRPr lang="en-US" dirty="0"/>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57400"/>
            <a:ext cx="3932238" cy="381158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Show a scatter point of payload vs. orbit type</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Show the screenshot of the scatter plot with explanations</a:t>
            </a:r>
          </a:p>
        </p:txBody>
      </p:sp>
      <p:sp>
        <p:nvSpPr>
          <p:cNvPr id="4" name="Title 1">
            <a:extLst>
              <a:ext uri="{FF2B5EF4-FFF2-40B4-BE49-F238E27FC236}">
                <a16:creationId xmlns:a16="http://schemas.microsoft.com/office/drawing/2014/main" id="{AFE7D9E4-306D-49E3-9AC4-15D566FC72A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Orbit Type</a:t>
            </a:r>
            <a:endParaRPr lang="en-US" dirty="0">
              <a:solidFill>
                <a:srgbClr val="0B49CB"/>
              </a:solidFill>
            </a:endParaRPr>
          </a:p>
        </p:txBody>
      </p:sp>
    </p:spTree>
    <p:extLst>
      <p:ext uri="{BB962C8B-B14F-4D97-AF65-F5344CB8AC3E}">
        <p14:creationId xmlns:p14="http://schemas.microsoft.com/office/powerpoint/2010/main" val="31453405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30</a:t>
            </a:fld>
            <a:endParaRPr lang="en-US" dirty="0"/>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69757"/>
            <a:ext cx="3932238" cy="381158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Show a line chart of yearly average success rate</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Show the screenshot of the scatter plot with explanations</a:t>
            </a:r>
          </a:p>
        </p:txBody>
      </p:sp>
      <p:sp>
        <p:nvSpPr>
          <p:cNvPr id="4" name="Title 1">
            <a:extLst>
              <a:ext uri="{FF2B5EF4-FFF2-40B4-BE49-F238E27FC236}">
                <a16:creationId xmlns:a16="http://schemas.microsoft.com/office/drawing/2014/main" id="{6D35FD2D-1BD2-45D7-B015-1A96C241520B}"/>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Success Yearly Trend</a:t>
            </a:r>
          </a:p>
        </p:txBody>
      </p:sp>
    </p:spTree>
    <p:extLst>
      <p:ext uri="{BB962C8B-B14F-4D97-AF65-F5344CB8AC3E}">
        <p14:creationId xmlns:p14="http://schemas.microsoft.com/office/powerpoint/2010/main" val="7065944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31</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Find the names of the unique launch sites</a:t>
            </a: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86E60219-AE1B-47B6-9A1D-F2865D04BE5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All Launch Site Names</a:t>
            </a:r>
          </a:p>
        </p:txBody>
      </p:sp>
    </p:spTree>
    <p:extLst>
      <p:ext uri="{BB962C8B-B14F-4D97-AF65-F5344CB8AC3E}">
        <p14:creationId xmlns:p14="http://schemas.microsoft.com/office/powerpoint/2010/main" val="27278509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32</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Find 5 records where launch sites begin with `CCA`</a:t>
            </a: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557C8CBA-1A0E-4CDF-A451-7AAA44D3983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Site Names Begin with 'CCA'</a:t>
            </a:r>
          </a:p>
        </p:txBody>
      </p:sp>
    </p:spTree>
    <p:extLst>
      <p:ext uri="{BB962C8B-B14F-4D97-AF65-F5344CB8AC3E}">
        <p14:creationId xmlns:p14="http://schemas.microsoft.com/office/powerpoint/2010/main" val="17947386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33</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Calculate the total payload carried by boosters from NASA</a:t>
            </a: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FD161C47-0660-416F-B4C2-25E4D35D69F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Payload Mass</a:t>
            </a:r>
          </a:p>
        </p:txBody>
      </p:sp>
    </p:spTree>
    <p:extLst>
      <p:ext uri="{BB962C8B-B14F-4D97-AF65-F5344CB8AC3E}">
        <p14:creationId xmlns:p14="http://schemas.microsoft.com/office/powerpoint/2010/main" val="40100147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34</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Calculate the average payload mass carried by booster version F9 v1.1</a:t>
            </a: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AFD52E17-48CB-4D60-BD56-71D197A29B3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Average Payload Mass by F9 v1.1</a:t>
            </a:r>
          </a:p>
        </p:txBody>
      </p:sp>
    </p:spTree>
    <p:extLst>
      <p:ext uri="{BB962C8B-B14F-4D97-AF65-F5344CB8AC3E}">
        <p14:creationId xmlns:p14="http://schemas.microsoft.com/office/powerpoint/2010/main" val="27355605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35</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Find the dates of the first successful landing outcome on ground pad</a:t>
            </a:r>
            <a:endParaRPr lang="en-US" dirty="0">
              <a:solidFill>
                <a:schemeClr val="accent3">
                  <a:lumMod val="25000"/>
                </a:schemeClr>
              </a:solidFill>
            </a:endParaRP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7F12CD3C-55B3-4129-817A-84D0B28F713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First Successful Ground Landing Date</a:t>
            </a:r>
          </a:p>
        </p:txBody>
      </p:sp>
    </p:spTree>
    <p:extLst>
      <p:ext uri="{BB962C8B-B14F-4D97-AF65-F5344CB8AC3E}">
        <p14:creationId xmlns:p14="http://schemas.microsoft.com/office/powerpoint/2010/main" val="14346799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36</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List the names of boosters which have successfully landed on drone ship and had payload mass greater than 4000 but less than 6000</a:t>
            </a: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8" name="Title 1">
            <a:extLst>
              <a:ext uri="{FF2B5EF4-FFF2-40B4-BE49-F238E27FC236}">
                <a16:creationId xmlns:a16="http://schemas.microsoft.com/office/drawing/2014/main" id="{952C2E9C-C6BE-40BD-A406-CFB441363C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Successful Drone Ship Landing with Payload between 4000 and 6000</a:t>
            </a:r>
          </a:p>
        </p:txBody>
      </p:sp>
    </p:spTree>
    <p:extLst>
      <p:ext uri="{BB962C8B-B14F-4D97-AF65-F5344CB8AC3E}">
        <p14:creationId xmlns:p14="http://schemas.microsoft.com/office/powerpoint/2010/main" val="6393995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37</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Calculate the total number of successful and failure mission outcomes</a:t>
            </a: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79B32320-42D4-49FA-8047-C080B444B3A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Number of Successful and Failure Mission Outcomes</a:t>
            </a:r>
          </a:p>
        </p:txBody>
      </p:sp>
    </p:spTree>
    <p:extLst>
      <p:ext uri="{BB962C8B-B14F-4D97-AF65-F5344CB8AC3E}">
        <p14:creationId xmlns:p14="http://schemas.microsoft.com/office/powerpoint/2010/main" val="17569726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38</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List the names of the booster which have carried the maximum payload mass</a:t>
            </a: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2A7EB98F-A25F-4357-9775-478FC17F7F83}"/>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Boosters Carried Maximum Payload</a:t>
            </a:r>
          </a:p>
        </p:txBody>
      </p:sp>
    </p:spTree>
    <p:extLst>
      <p:ext uri="{BB962C8B-B14F-4D97-AF65-F5344CB8AC3E}">
        <p14:creationId xmlns:p14="http://schemas.microsoft.com/office/powerpoint/2010/main" val="35666463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39</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List the failed </a:t>
            </a:r>
            <a:r>
              <a:rPr lang="en-US" sz="2200" dirty="0" err="1">
                <a:solidFill>
                  <a:schemeClr val="accent3">
                    <a:lumMod val="25000"/>
                  </a:schemeClr>
                </a:solidFill>
                <a:latin typeface="Abadi"/>
              </a:rPr>
              <a:t>landing_outcomes</a:t>
            </a:r>
            <a:r>
              <a:rPr lang="en-US" sz="2200" dirty="0">
                <a:solidFill>
                  <a:schemeClr val="accent3">
                    <a:lumMod val="25000"/>
                  </a:schemeClr>
                </a:solidFill>
                <a:latin typeface="Abadi"/>
              </a:rPr>
              <a:t> in drone ship, their booster versions, and launch site names for in year 2015</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Present your query result with a short explanation here</a:t>
            </a:r>
            <a:endParaRPr lang="en-US" dirty="0">
              <a:solidFill>
                <a:schemeClr val="accent3">
                  <a:lumMod val="25000"/>
                </a:schemeClr>
              </a:solidFill>
              <a:latin typeface="Abadi"/>
            </a:endParaRPr>
          </a:p>
        </p:txBody>
      </p:sp>
      <p:sp>
        <p:nvSpPr>
          <p:cNvPr id="3" name="Title 1">
            <a:extLst>
              <a:ext uri="{FF2B5EF4-FFF2-40B4-BE49-F238E27FC236}">
                <a16:creationId xmlns:a16="http://schemas.microsoft.com/office/drawing/2014/main" id="{964DA114-677C-40D8-8FFA-43531834CFB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2015 Launch Records</a:t>
            </a:r>
          </a:p>
        </p:txBody>
      </p:sp>
    </p:spTree>
    <p:extLst>
      <p:ext uri="{BB962C8B-B14F-4D97-AF65-F5344CB8AC3E}">
        <p14:creationId xmlns:p14="http://schemas.microsoft.com/office/powerpoint/2010/main" val="13984391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40</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lstStyle/>
          <a:p>
            <a:pPr>
              <a:lnSpc>
                <a:spcPct val="100000"/>
              </a:lnSpc>
              <a:spcBef>
                <a:spcPts val="1400"/>
              </a:spcBef>
            </a:pPr>
            <a:r>
              <a:rPr lang="en-US" sz="2200" dirty="0">
                <a:solidFill>
                  <a:schemeClr val="accent3">
                    <a:lumMod val="25000"/>
                  </a:schemeClr>
                </a:solidFill>
                <a:latin typeface="Abadi"/>
              </a:rPr>
              <a:t>Rank the count of landing outcomes (such as Failure (drone ship) or Success (ground pad)) between the date 2010-06-04 and 2017-03-20, in descending order</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04523243-E4D6-45EC-97C8-D44398FB741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Rank Landing Outcomes Between 2010-06-04 and 2017-03-20</a:t>
            </a:r>
          </a:p>
        </p:txBody>
      </p:sp>
    </p:spTree>
    <p:extLst>
      <p:ext uri="{BB962C8B-B14F-4D97-AF65-F5344CB8AC3E}">
        <p14:creationId xmlns:p14="http://schemas.microsoft.com/office/powerpoint/2010/main" val="39751684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B25EC16-0638-FF41-B7CF-E42224EF7FA1}"/>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3</a:t>
            </a:r>
          </a:p>
        </p:txBody>
      </p:sp>
    </p:spTree>
    <p:extLst>
      <p:ext uri="{BB962C8B-B14F-4D97-AF65-F5344CB8AC3E}">
        <p14:creationId xmlns:p14="http://schemas.microsoft.com/office/powerpoint/2010/main" val="10233524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42</a:t>
            </a:fld>
            <a:endParaRPr lang="en-US" dirty="0"/>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Replace &lt;Folium map screenshot 1&gt; title with an appropriate title</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Explore the generated folium map and make a proper screenshot to include all launch sites’ location markers on a global map</a:t>
            </a:r>
            <a:endParaRPr lang="en-US" dirty="0">
              <a:solidFill>
                <a:schemeClr val="accent3">
                  <a:lumMod val="25000"/>
                </a:schemeClr>
              </a:solidFill>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Explain the important elements and findings on the screenshot</a:t>
            </a:r>
          </a:p>
          <a:p>
            <a:endParaRPr lang="en-US" dirty="0"/>
          </a:p>
        </p:txBody>
      </p:sp>
      <p:sp>
        <p:nvSpPr>
          <p:cNvPr id="2" name="Title 1">
            <a:extLst>
              <a:ext uri="{FF2B5EF4-FFF2-40B4-BE49-F238E27FC236}">
                <a16:creationId xmlns:a16="http://schemas.microsoft.com/office/drawing/2014/main" id="{54176327-8CC4-4356-8BBB-DC4965CE985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&lt;Folium Map Screenshot 1&gt;</a:t>
            </a:r>
          </a:p>
        </p:txBody>
      </p:sp>
    </p:spTree>
    <p:extLst>
      <p:ext uri="{BB962C8B-B14F-4D97-AF65-F5344CB8AC3E}">
        <p14:creationId xmlns:p14="http://schemas.microsoft.com/office/powerpoint/2010/main" val="9816717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43</a:t>
            </a:fld>
            <a:endParaRPr lang="en-US" dirty="0"/>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Replace &lt;Folium map screenshot 2&gt; title with an appropriate title</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ea typeface="+mn-lt"/>
                <a:cs typeface="+mn-lt"/>
              </a:rPr>
              <a:t>Explore the folium</a:t>
            </a:r>
            <a:r>
              <a:rPr lang="en-US" sz="2200" dirty="0">
                <a:solidFill>
                  <a:schemeClr val="accent3">
                    <a:lumMod val="25000"/>
                  </a:schemeClr>
                </a:solidFill>
                <a:latin typeface="Abadi"/>
              </a:rPr>
              <a:t> map and make a proper screenshot to show the color-labeled launch outcomes on the map</a:t>
            </a:r>
            <a:endParaRPr lang="en-US"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Explain the important elements and findings on the screenshot</a:t>
            </a:r>
            <a:endParaRPr lang="en-US" dirty="0">
              <a:solidFill>
                <a:schemeClr val="accent3">
                  <a:lumMod val="25000"/>
                </a:schemeClr>
              </a:solidFill>
              <a:latin typeface="Abadi"/>
            </a:endParaRPr>
          </a:p>
          <a:p>
            <a:pPr>
              <a:spcBef>
                <a:spcPts val="1400"/>
              </a:spcBef>
            </a:pPr>
            <a:endParaRPr lang="en-US" dirty="0">
              <a:solidFill>
                <a:schemeClr val="accent3">
                  <a:lumMod val="25000"/>
                </a:schemeClr>
              </a:solidFill>
            </a:endParaRPr>
          </a:p>
        </p:txBody>
      </p:sp>
      <p:sp>
        <p:nvSpPr>
          <p:cNvPr id="8" name="Title 1">
            <a:extLst>
              <a:ext uri="{FF2B5EF4-FFF2-40B4-BE49-F238E27FC236}">
                <a16:creationId xmlns:a16="http://schemas.microsoft.com/office/drawing/2014/main" id="{2E0ECA32-E146-40DA-85CD-9677244BC3E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&lt;Folium Map Screenshot 2&gt;</a:t>
            </a:r>
          </a:p>
        </p:txBody>
      </p:sp>
    </p:spTree>
    <p:extLst>
      <p:ext uri="{BB962C8B-B14F-4D97-AF65-F5344CB8AC3E}">
        <p14:creationId xmlns:p14="http://schemas.microsoft.com/office/powerpoint/2010/main" val="2395978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44</a:t>
            </a:fld>
            <a:endParaRPr lang="en-US" dirty="0"/>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690688"/>
            <a:ext cx="8597827" cy="4314825"/>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Replace &lt;Folium map screenshot 3&gt; title with an appropriate title</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Explore the generated folium map and show the screenshot of a selected launch site to its proximities such as railway, highway, coastline, with distance calculated and displayed</a:t>
            </a:r>
            <a:endParaRPr lang="en-US"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Explain the important elements and findings on the screenshot</a:t>
            </a:r>
            <a:endParaRPr lang="en-US"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8" name="Title 1">
            <a:extLst>
              <a:ext uri="{FF2B5EF4-FFF2-40B4-BE49-F238E27FC236}">
                <a16:creationId xmlns:a16="http://schemas.microsoft.com/office/drawing/2014/main" id="{34C97452-C78A-4701-B8AB-ABFE63D5BED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&lt;Folium Map Screenshot 3&gt;</a:t>
            </a:r>
          </a:p>
        </p:txBody>
      </p:sp>
    </p:spTree>
    <p:extLst>
      <p:ext uri="{BB962C8B-B14F-4D97-AF65-F5344CB8AC3E}">
        <p14:creationId xmlns:p14="http://schemas.microsoft.com/office/powerpoint/2010/main" val="2324990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8BBD4D-F87B-2648-91EB-CF6A4BF6870A}"/>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4</a:t>
            </a:r>
          </a:p>
        </p:txBody>
      </p:sp>
    </p:spTree>
    <p:extLst>
      <p:ext uri="{BB962C8B-B14F-4D97-AF65-F5344CB8AC3E}">
        <p14:creationId xmlns:p14="http://schemas.microsoft.com/office/powerpoint/2010/main" val="7334617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46</a:t>
            </a:fld>
            <a:endParaRPr lang="en-US" dirty="0"/>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Replace &lt;Dashboard screenshot 1&gt; title with an appropriate title</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a:rPr>
              <a:t>Show the screenshot of launch success count for all sites, in a </a:t>
            </a:r>
            <a:r>
              <a:rPr lang="en-US" sz="2200" dirty="0" err="1">
                <a:solidFill>
                  <a:schemeClr val="accent3">
                    <a:lumMod val="25000"/>
                  </a:schemeClr>
                </a:solidFill>
                <a:latin typeface="Abadi"/>
              </a:rPr>
              <a:t>piechart</a:t>
            </a: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Explain the important elements and findings on the screenshot</a:t>
            </a:r>
            <a:endParaRPr lang="en-US"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8" name="Title 1">
            <a:extLst>
              <a:ext uri="{FF2B5EF4-FFF2-40B4-BE49-F238E27FC236}">
                <a16:creationId xmlns:a16="http://schemas.microsoft.com/office/drawing/2014/main" id="{9456A072-47A6-4424-9ABE-F398119040D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&lt;Dashboard Screenshot 1&gt;</a:t>
            </a:r>
          </a:p>
        </p:txBody>
      </p:sp>
    </p:spTree>
    <p:extLst>
      <p:ext uri="{BB962C8B-B14F-4D97-AF65-F5344CB8AC3E}">
        <p14:creationId xmlns:p14="http://schemas.microsoft.com/office/powerpoint/2010/main" val="7001329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47</a:t>
            </a:fld>
            <a:endParaRPr lang="en-US" dirty="0"/>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34027" y="1825625"/>
            <a:ext cx="10551583"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Replace &lt;Dashboard screenshot 2&gt; title with an appropriate title</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Show the screenshot of the </a:t>
            </a:r>
            <a:r>
              <a:rPr lang="en-US" sz="2200" dirty="0" err="1">
                <a:solidFill>
                  <a:schemeClr val="accent3">
                    <a:lumMod val="25000"/>
                  </a:schemeClr>
                </a:solidFill>
                <a:latin typeface="Abadi"/>
              </a:rPr>
              <a:t>piechart</a:t>
            </a:r>
            <a:r>
              <a:rPr lang="en-US" sz="2200" dirty="0">
                <a:solidFill>
                  <a:schemeClr val="accent3">
                    <a:lumMod val="25000"/>
                  </a:schemeClr>
                </a:solidFill>
                <a:latin typeface="Abadi"/>
              </a:rPr>
              <a:t> for the launch site with highest launch success ratio</a:t>
            </a:r>
            <a:endParaRPr lang="en-US"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Explain the important elements and findings on the screenshot</a:t>
            </a:r>
            <a:endParaRPr lang="en-US" dirty="0">
              <a:solidFill>
                <a:schemeClr val="accent3">
                  <a:lumMod val="25000"/>
                </a:schemeClr>
              </a:solidFill>
              <a:latin typeface="Abadi"/>
            </a:endParaRPr>
          </a:p>
          <a:p>
            <a:endParaRPr lang="en-US" dirty="0"/>
          </a:p>
        </p:txBody>
      </p:sp>
      <p:sp>
        <p:nvSpPr>
          <p:cNvPr id="8" name="Title 1">
            <a:extLst>
              <a:ext uri="{FF2B5EF4-FFF2-40B4-BE49-F238E27FC236}">
                <a16:creationId xmlns:a16="http://schemas.microsoft.com/office/drawing/2014/main" id="{4EF94599-779E-457E-B57B-6063EBF7A84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&lt;Dashboard Screenshot 2&gt;</a:t>
            </a:r>
          </a:p>
        </p:txBody>
      </p:sp>
    </p:spTree>
    <p:extLst>
      <p:ext uri="{BB962C8B-B14F-4D97-AF65-F5344CB8AC3E}">
        <p14:creationId xmlns:p14="http://schemas.microsoft.com/office/powerpoint/2010/main" val="18661607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48</a:t>
            </a:fld>
            <a:endParaRPr lang="en-US" dirty="0"/>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770011" y="1825625"/>
            <a:ext cx="10414662"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Replace &lt;Dashboard screenshot 3&gt; title with an appropriate title</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panose="020B0604020104020204" pitchFamily="34" charset="0"/>
              </a:rPr>
              <a:t>Show screenshots of Payload vs. Launch Outcome scatter plot for all sites, with different payload selected in the range slider</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Explain the important elements and findings on the screenshot, such as which payload range or booster version have the largest success rate, etc.</a:t>
            </a: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12" name="Title 1">
            <a:extLst>
              <a:ext uri="{FF2B5EF4-FFF2-40B4-BE49-F238E27FC236}">
                <a16:creationId xmlns:a16="http://schemas.microsoft.com/office/drawing/2014/main" id="{4D271BF5-BAA1-4CEB-A575-76A097FABB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&lt;Dashboard Screenshot 3&gt;</a:t>
            </a:r>
          </a:p>
        </p:txBody>
      </p:sp>
    </p:spTree>
    <p:extLst>
      <p:ext uri="{BB962C8B-B14F-4D97-AF65-F5344CB8AC3E}">
        <p14:creationId xmlns:p14="http://schemas.microsoft.com/office/powerpoint/2010/main" val="2523596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37DFD2-2B76-8445-A1BD-6628DC42C398}"/>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5</a:t>
            </a:r>
          </a:p>
        </p:txBody>
      </p:sp>
    </p:spTree>
    <p:extLst>
      <p:ext uri="{BB962C8B-B14F-4D97-AF65-F5344CB8AC3E}">
        <p14:creationId xmlns:p14="http://schemas.microsoft.com/office/powerpoint/2010/main" val="12903941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50</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770010" y="2082114"/>
            <a:ext cx="5325989" cy="3811588"/>
          </a:xfrm>
          <a:prstGeom prst="rect">
            <a:avLst/>
          </a:prstGeom>
        </p:spPr>
        <p:txBody>
          <a:bodyPr vert="horz" lIns="91440" tIns="45720" rIns="91440" bIns="45720" rtlCol="0" anchor="t">
            <a:normAutofit/>
          </a:bodyPr>
          <a:lstStyle/>
          <a:p>
            <a:pPr>
              <a:lnSpc>
                <a:spcPct val="100000"/>
              </a:lnSpc>
              <a:spcBef>
                <a:spcPts val="1400"/>
              </a:spcBef>
            </a:pPr>
            <a:r>
              <a:rPr lang="en-US" sz="2200" dirty="0">
                <a:solidFill>
                  <a:schemeClr val="accent3">
                    <a:lumMod val="25000"/>
                  </a:schemeClr>
                </a:solidFill>
                <a:latin typeface="Abadi"/>
              </a:rPr>
              <a:t>Visualize the built model accuracy for all built classification models, in a bar chart</a:t>
            </a: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Find which model has the highest classification accuracy</a:t>
            </a:r>
          </a:p>
        </p:txBody>
      </p:sp>
      <p:sp>
        <p:nvSpPr>
          <p:cNvPr id="9" name="Title 1">
            <a:extLst>
              <a:ext uri="{FF2B5EF4-FFF2-40B4-BE49-F238E27FC236}">
                <a16:creationId xmlns:a16="http://schemas.microsoft.com/office/drawing/2014/main" id="{B68D8986-45AC-4FB5-96E8-C45F9603EB5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Classification Accuracy</a:t>
            </a:r>
            <a:endParaRPr lang="en-US" dirty="0">
              <a:solidFill>
                <a:srgbClr val="0B49CB"/>
              </a:solidFill>
            </a:endParaRPr>
          </a:p>
        </p:txBody>
      </p:sp>
    </p:spTree>
    <p:extLst>
      <p:ext uri="{BB962C8B-B14F-4D97-AF65-F5344CB8AC3E}">
        <p14:creationId xmlns:p14="http://schemas.microsoft.com/office/powerpoint/2010/main" val="24594460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51</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770011" y="2057400"/>
            <a:ext cx="9477960" cy="381158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Show the confusion matrix of the best performing model with an explanation </a:t>
            </a:r>
          </a:p>
        </p:txBody>
      </p:sp>
      <p:sp>
        <p:nvSpPr>
          <p:cNvPr id="9" name="Title 1">
            <a:extLst>
              <a:ext uri="{FF2B5EF4-FFF2-40B4-BE49-F238E27FC236}">
                <a16:creationId xmlns:a16="http://schemas.microsoft.com/office/drawing/2014/main" id="{533106AC-60D7-46AE-8E64-7B84ABDBD09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Confusion Matrix</a:t>
            </a:r>
            <a:endParaRPr lang="en-US" dirty="0">
              <a:solidFill>
                <a:srgbClr val="0B49CB"/>
              </a:solidFill>
            </a:endParaRPr>
          </a:p>
        </p:txBody>
      </p:sp>
    </p:spTree>
    <p:extLst>
      <p:ext uri="{BB962C8B-B14F-4D97-AF65-F5344CB8AC3E}">
        <p14:creationId xmlns:p14="http://schemas.microsoft.com/office/powerpoint/2010/main" val="36450342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52</a:t>
            </a:fld>
            <a:endParaRPr lang="en-US" dirty="0"/>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75054"/>
            <a:ext cx="5903913"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Point 1</a:t>
            </a:r>
          </a:p>
          <a:p>
            <a:pPr>
              <a:lnSpc>
                <a:spcPct val="100000"/>
              </a:lnSpc>
              <a:spcBef>
                <a:spcPts val="1400"/>
              </a:spcBef>
            </a:pPr>
            <a:r>
              <a:rPr lang="en-US" sz="2200" dirty="0">
                <a:solidFill>
                  <a:schemeClr val="accent3">
                    <a:lumMod val="25000"/>
                  </a:schemeClr>
                </a:solidFill>
                <a:latin typeface="Abadi" panose="020B0604020104020204" pitchFamily="34" charset="0"/>
              </a:rPr>
              <a:t>Point 2</a:t>
            </a:r>
          </a:p>
          <a:p>
            <a:pPr>
              <a:lnSpc>
                <a:spcPct val="100000"/>
              </a:lnSpc>
              <a:spcBef>
                <a:spcPts val="1400"/>
              </a:spcBef>
            </a:pPr>
            <a:r>
              <a:rPr lang="en-US" sz="2200" dirty="0">
                <a:solidFill>
                  <a:schemeClr val="accent3">
                    <a:lumMod val="25000"/>
                  </a:schemeClr>
                </a:solidFill>
                <a:latin typeface="Abadi" panose="020B0604020104020204" pitchFamily="34" charset="0"/>
              </a:rPr>
              <a:t>Point 3</a:t>
            </a:r>
          </a:p>
          <a:p>
            <a:pPr>
              <a:lnSpc>
                <a:spcPct val="100000"/>
              </a:lnSpc>
              <a:spcBef>
                <a:spcPts val="1400"/>
              </a:spcBef>
            </a:pPr>
            <a:r>
              <a:rPr lang="en-US" sz="2200" dirty="0">
                <a:solidFill>
                  <a:schemeClr val="accent3">
                    <a:lumMod val="25000"/>
                  </a:schemeClr>
                </a:solidFill>
                <a:latin typeface="Abadi" panose="020B0604020104020204" pitchFamily="34" charset="0"/>
              </a:rPr>
              <a:t>Point 4</a:t>
            </a:r>
          </a:p>
          <a:p>
            <a:pPr>
              <a:lnSpc>
                <a:spcPct val="100000"/>
              </a:lnSpc>
              <a:spcBef>
                <a:spcPts val="1400"/>
              </a:spcBef>
            </a:pPr>
            <a:r>
              <a:rPr lang="en-US" sz="2200" dirty="0">
                <a:solidFill>
                  <a:schemeClr val="accent3">
                    <a:lumMod val="25000"/>
                  </a:schemeClr>
                </a:solidFill>
                <a:latin typeface="Abadi" panose="020B0604020104020204" pitchFamily="34" charset="0"/>
              </a:rPr>
              <a:t>…</a:t>
            </a:r>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dirty="0">
              <a:solidFill>
                <a:srgbClr val="0B49CB"/>
              </a:solidFill>
            </a:endParaRPr>
          </a:p>
        </p:txBody>
      </p:sp>
      <p:sp>
        <p:nvSpPr>
          <p:cNvPr id="2" name="ZoneTexte 1">
            <a:extLst>
              <a:ext uri="{FF2B5EF4-FFF2-40B4-BE49-F238E27FC236}">
                <a16:creationId xmlns:a16="http://schemas.microsoft.com/office/drawing/2014/main" id="{CF21531D-6C4C-FE55-3855-D92F93185B79}"/>
              </a:ext>
            </a:extLst>
          </p:cNvPr>
          <p:cNvSpPr txBox="1"/>
          <p:nvPr/>
        </p:nvSpPr>
        <p:spPr>
          <a:xfrm>
            <a:off x="5638800" y="1875054"/>
            <a:ext cx="4617308" cy="2308324"/>
          </a:xfrm>
          <a:prstGeom prst="rect">
            <a:avLst/>
          </a:prstGeom>
          <a:noFill/>
        </p:spPr>
        <p:txBody>
          <a:bodyPr wrap="square" rtlCol="0">
            <a:spAutoFit/>
          </a:bodyPr>
          <a:lstStyle/>
          <a:p>
            <a:r>
              <a:rPr lang="en-US" dirty="0"/>
              <a:t>The project demonstrates that launch site, payload mass, and booster version are significant predictors of Falcon 9 landing success. Interactive dashboards and geospatial maps provide valuable insights for mission planning. Predictive models can support decision-making and risk assessment for future launches.</a:t>
            </a:r>
          </a:p>
        </p:txBody>
      </p:sp>
    </p:spTree>
    <p:extLst>
      <p:ext uri="{BB962C8B-B14F-4D97-AF65-F5344CB8AC3E}">
        <p14:creationId xmlns:p14="http://schemas.microsoft.com/office/powerpoint/2010/main" val="16301236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53</a:t>
            </a:fld>
            <a:endParaRPr lang="en-US" dirty="0"/>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59522"/>
            <a:ext cx="10515600"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Include any relevant assets like Python code snippets, SQL queries, charts, Notebook outputs, or data sets that you may have created during this project</a:t>
            </a:r>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a:t>
            </a:r>
            <a:endParaRPr lang="en-US" dirty="0">
              <a:solidFill>
                <a:srgbClr val="0B49CB"/>
              </a:solidFill>
            </a:endParaRPr>
          </a:p>
        </p:txBody>
      </p:sp>
      <p:sp>
        <p:nvSpPr>
          <p:cNvPr id="3" name="ZoneTexte 2">
            <a:extLst>
              <a:ext uri="{FF2B5EF4-FFF2-40B4-BE49-F238E27FC236}">
                <a16:creationId xmlns:a16="http://schemas.microsoft.com/office/drawing/2014/main" id="{81B9AE27-5DB5-34A6-A0B7-0526D6792E6F}"/>
              </a:ext>
            </a:extLst>
          </p:cNvPr>
          <p:cNvSpPr txBox="1"/>
          <p:nvPr/>
        </p:nvSpPr>
        <p:spPr>
          <a:xfrm>
            <a:off x="1492078" y="2886252"/>
            <a:ext cx="8245045" cy="2922970"/>
          </a:xfrm>
          <a:prstGeom prst="rect">
            <a:avLst/>
          </a:prstGeom>
          <a:noFill/>
        </p:spPr>
        <p:txBody>
          <a:bodyPr wrap="square">
            <a:spAutoFit/>
          </a:bodyPr>
          <a:lstStyle/>
          <a:p>
            <a:r>
              <a:rPr lang="en-US" dirty="0"/>
              <a:t>Data Sources: SpaceX API, Wikipedia, provided CSVs.</a:t>
            </a:r>
          </a:p>
          <a:p>
            <a:r>
              <a:rPr lang="en-US" dirty="0"/>
              <a:t>Tools &amp; Libraries: Python, Pandas, NumPy, </a:t>
            </a:r>
            <a:r>
              <a:rPr lang="en-US" dirty="0" err="1"/>
              <a:t>BeautifulSoup</a:t>
            </a:r>
            <a:r>
              <a:rPr lang="en-US" dirty="0"/>
              <a:t>, Requests, SQLite, Folium, </a:t>
            </a:r>
            <a:r>
              <a:rPr lang="en-US" dirty="0" err="1"/>
              <a:t>Plotly</a:t>
            </a:r>
            <a:r>
              <a:rPr lang="en-US" dirty="0"/>
              <a:t>, Dash, Scikit-learn.</a:t>
            </a:r>
          </a:p>
          <a:p>
            <a:r>
              <a:rPr lang="en-US" dirty="0"/>
              <a:t>Project Artifacts by Week:</a:t>
            </a:r>
          </a:p>
          <a:p>
            <a:r>
              <a:rPr lang="en-US" dirty="0"/>
              <a:t>Week 1: Data collection and wrangling notebooks.</a:t>
            </a:r>
          </a:p>
          <a:p>
            <a:r>
              <a:rPr lang="en-US" dirty="0"/>
              <a:t>Week 2: SQL analysis and EDA.</a:t>
            </a:r>
          </a:p>
          <a:p>
            <a:r>
              <a:rPr lang="en-US" dirty="0"/>
              <a:t>Week 3: Geospatial mapping and dashboard app.</a:t>
            </a:r>
          </a:p>
          <a:p>
            <a:r>
              <a:rPr lang="en-US" dirty="0"/>
              <a:t>Week 4: Machine learning modeling and evaluation.</a:t>
            </a:r>
          </a:p>
          <a:p>
            <a:r>
              <a:rPr lang="en-US" dirty="0"/>
              <a:t>Week 5: Presentation slides (Capstone-</a:t>
            </a:r>
            <a:r>
              <a:rPr lang="en-US" dirty="0" err="1"/>
              <a:t>Mamady.pptx</a:t>
            </a:r>
            <a:r>
              <a:rPr lang="en-US" dirty="0"/>
              <a:t>).</a:t>
            </a:r>
          </a:p>
          <a:p>
            <a:r>
              <a:rPr lang="en-US" dirty="0"/>
              <a:t>Screenshots and code samples available in respective week folders.</a:t>
            </a:r>
          </a:p>
        </p:txBody>
      </p:sp>
    </p:spTree>
    <p:extLst>
      <p:ext uri="{BB962C8B-B14F-4D97-AF65-F5344CB8AC3E}">
        <p14:creationId xmlns:p14="http://schemas.microsoft.com/office/powerpoint/2010/main" val="34100085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1040741"/>
      </p:ext>
    </p:extLst>
  </p:cSld>
  <p:clrMapOvr>
    <a:masterClrMapping/>
  </p:clrMapOvr>
  <p:transition spd="slow">
    <p:push dir="u"/>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4DA07C5-A406-4A0D-B3E6-3856C94AC7F3}">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f80a141d-92ca-4d3d-9308-f7e7b1d44ce8"/>
    <ds:schemaRef ds:uri="http://purl.org/dc/dcmitype/"/>
    <ds:schemaRef ds:uri="http://www.w3.org/XML/1998/namespace"/>
    <ds:schemaRef ds:uri="155be751-a274-42e8-93fb-f39d3b9bccc8"/>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7EFDA260-DDA0-422C-B7AE-778F653FBB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23149</TotalTime>
  <Words>2788</Words>
  <Application>Microsoft Macintosh PowerPoint</Application>
  <PresentationFormat>Grand écran</PresentationFormat>
  <Paragraphs>338</Paragraphs>
  <Slides>54</Slides>
  <Notes>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54</vt:i4>
      </vt:variant>
    </vt:vector>
  </HeadingPairs>
  <TitlesOfParts>
    <vt:vector size="59" baseType="lpstr">
      <vt:lpstr>Abadi</vt:lpstr>
      <vt:lpstr>Arial</vt:lpstr>
      <vt:lpstr>Calibri</vt:lpstr>
      <vt:lpstr>IBM Plex Mono SemiBold</vt:lpstr>
      <vt:lpstr>Custom Design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&lt;Title&gt;</dc:title>
  <dc:creator>YAN Luo</dc:creator>
  <cp:lastModifiedBy>Mamady Magassouba</cp:lastModifiedBy>
  <cp:revision>219</cp:revision>
  <dcterms:created xsi:type="dcterms:W3CDTF">2021-04-29T18:58:34Z</dcterms:created>
  <dcterms:modified xsi:type="dcterms:W3CDTF">2025-09-15T12:49:02Z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